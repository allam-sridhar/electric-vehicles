
<file path=[Content_Types].xml><?xml version="1.0" encoding="utf-8"?>
<Types xmlns="http://schemas.openxmlformats.org/package/2006/content-types">
  <Default Extension="fntdata" ContentType="application/x-fontdata"/>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260" r:id="rId4"/>
    <p:sldId id="261" r:id="rId5"/>
    <p:sldId id="262" r:id="rId6"/>
    <p:sldId id="263" r:id="rId7"/>
    <p:sldId id="264" r:id="rId8"/>
    <p:sldId id="265" r:id="rId9"/>
    <p:sldId id="271" r:id="rId10"/>
    <p:sldId id="272" r:id="rId11"/>
    <p:sldId id="266" r:id="rId12"/>
    <p:sldId id="273" r:id="rId13"/>
    <p:sldId id="274" r:id="rId14"/>
    <p:sldId id="275" r:id="rId15"/>
    <p:sldId id="276" r:id="rId16"/>
    <p:sldId id="277" r:id="rId17"/>
    <p:sldId id="278" r:id="rId18"/>
    <p:sldId id="279" r:id="rId19"/>
    <p:sldId id="269" r:id="rId20"/>
    <p:sldId id="280" r:id="rId21"/>
    <p:sldId id="281" r:id="rId22"/>
    <p:sldId id="270" r:id="rId23"/>
    <p:sldId id="259" r:id="rId24"/>
  </p:sldIdLst>
  <p:sldSz cx="12192000" cy="6858000"/>
  <p:notesSz cx="6858000" cy="9144000"/>
  <p:embeddedFontLst>
    <p:embeddedFont>
      <p:font typeface="Lato Black" panose="020F0502020204030203" pitchFamily="34" charset="0"/>
      <p:bold r:id="rId26"/>
      <p:boldItalic r:id="rId27"/>
    </p:embeddedFont>
    <p:embeddedFont>
      <p:font typeface="Libre Baskerville" panose="02000000000000000000" pitchFamily="2" charset="0"/>
      <p:regular r:id="rId28"/>
      <p:bold r:id="rId29"/>
      <p: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2"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dirty="0"/>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ALLAM-SRIDHAR/Electric-Vehicles.git"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www.linkedin.com/in/ALLAM-SRlDHAR"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0.gif"/><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1"/>
            <a:ext cx="12190815" cy="6724073"/>
          </a:xfrm>
          <a:prstGeom prst="rect">
            <a:avLst/>
          </a:prstGeom>
          <a:noFill/>
          <a:ln>
            <a:noFill/>
          </a:ln>
        </p:spPr>
      </p:pic>
      <p:sp>
        <p:nvSpPr>
          <p:cNvPr id="99" name="Google Shape;99;p1"/>
          <p:cNvSpPr txBox="1"/>
          <p:nvPr/>
        </p:nvSpPr>
        <p:spPr>
          <a:xfrm>
            <a:off x="1554480" y="3855146"/>
            <a:ext cx="8769096" cy="70784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br>
              <a:rPr lang="en-IN" sz="2000" b="0" i="0" u="none" strike="noStrike" cap="none" dirty="0">
                <a:solidFill>
                  <a:schemeClr val="dk1"/>
                </a:solidFill>
                <a:latin typeface="Calibri"/>
                <a:ea typeface="Calibri"/>
                <a:cs typeface="Calibri"/>
                <a:sym typeface="Calibri"/>
              </a:rPr>
            </a:br>
            <a:r>
              <a:rPr lang="en-IN" sz="2000" b="1" i="0" u="none" strike="noStrike" cap="none" dirty="0">
                <a:solidFill>
                  <a:srgbClr val="FF0000"/>
                </a:solidFill>
                <a:latin typeface="Calibri"/>
                <a:ea typeface="Calibri"/>
                <a:cs typeface="Calibri"/>
                <a:sym typeface="Calibri"/>
              </a:rPr>
              <a:t>“</a:t>
            </a:r>
            <a:r>
              <a:rPr lang="en-US" sz="2000" b="1" dirty="0">
                <a:solidFill>
                  <a:srgbClr val="FF0000"/>
                </a:solidFill>
              </a:rPr>
              <a:t>Exploratory Data Analysis of </a:t>
            </a:r>
            <a:r>
              <a:rPr lang="en-US" sz="2000" b="1" dirty="0">
                <a:solidFill>
                  <a:srgbClr val="FF0000"/>
                </a:solidFill>
                <a:latin typeface="Arial" panose="020B0604020202020204" pitchFamily="34" charset="0"/>
              </a:rPr>
              <a:t>Electric Vehicle Dataset.</a:t>
            </a:r>
            <a:r>
              <a:rPr lang="en-US" sz="2000" b="1" i="0" u="none" strike="noStrike" dirty="0">
                <a:solidFill>
                  <a:srgbClr val="FF0000"/>
                </a:solidFill>
                <a:effectLst/>
                <a:latin typeface="Arial" panose="020B0604020202020204" pitchFamily="34" charset="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5" name="Google Shape;105;p3"/>
          <p:cNvSpPr txBox="1"/>
          <p:nvPr/>
        </p:nvSpPr>
        <p:spPr>
          <a:xfrm>
            <a:off x="1136073" y="416554"/>
            <a:ext cx="5391046" cy="49590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a:buNone/>
            </a:pPr>
            <a:r>
              <a:rPr lang="en-IN" sz="3200" b="0" i="0" u="none" strike="noStrike" cap="none" dirty="0">
                <a:solidFill>
                  <a:srgbClr val="FF0000"/>
                </a:solidFill>
                <a:latin typeface="Lato Black"/>
                <a:ea typeface="Lato Black"/>
                <a:cs typeface="Lato Black"/>
                <a:sym typeface="Lato Black"/>
              </a:rPr>
              <a:t>About me</a:t>
            </a:r>
            <a:endParaRPr sz="1800" b="0" i="0" u="none" strike="noStrike" cap="none" dirty="0">
              <a:solidFill>
                <a:srgbClr val="FF0000"/>
              </a:solidFill>
              <a:latin typeface="Calibri"/>
              <a:ea typeface="Calibri"/>
              <a:cs typeface="Calibri"/>
              <a:sym typeface="Calibri"/>
            </a:endParaRPr>
          </a:p>
        </p:txBody>
      </p:sp>
      <p:sp>
        <p:nvSpPr>
          <p:cNvPr id="3" name="TextBox 2">
            <a:extLst>
              <a:ext uri="{FF2B5EF4-FFF2-40B4-BE49-F238E27FC236}">
                <a16:creationId xmlns:a16="http://schemas.microsoft.com/office/drawing/2014/main" id="{F27A6811-C6AB-0F1B-A72B-CD6E3D86A2F1}"/>
              </a:ext>
            </a:extLst>
          </p:cNvPr>
          <p:cNvSpPr txBox="1"/>
          <p:nvPr/>
        </p:nvSpPr>
        <p:spPr>
          <a:xfrm>
            <a:off x="1514764" y="1191491"/>
            <a:ext cx="7287491" cy="954107"/>
          </a:xfrm>
          <a:prstGeom prst="rect">
            <a:avLst/>
          </a:prstGeom>
          <a:noFill/>
        </p:spPr>
        <p:txBody>
          <a:bodyPr wrap="square" rtlCol="0">
            <a:spAutoFit/>
          </a:bodyPr>
          <a:lstStyle/>
          <a:p>
            <a:r>
              <a:rPr lang="en-IN" b="1" dirty="0"/>
              <a:t>Name:  </a:t>
            </a:r>
            <a:r>
              <a:rPr lang="en-IN" dirty="0"/>
              <a:t>ALLAM SRIDHAR</a:t>
            </a:r>
          </a:p>
          <a:p>
            <a:r>
              <a:rPr lang="en-IN" b="1" dirty="0"/>
              <a:t>Education:  </a:t>
            </a:r>
            <a:r>
              <a:rPr lang="en-IN" dirty="0"/>
              <a:t>MSc(Computer Science) 2022-24 batch.</a:t>
            </a:r>
          </a:p>
          <a:p>
            <a:r>
              <a:rPr lang="en-IN" b="1" dirty="0"/>
              <a:t>Current Status:  </a:t>
            </a:r>
            <a:r>
              <a:rPr lang="en-IN" dirty="0"/>
              <a:t>Fresher, Aspiring Data Scientist</a:t>
            </a:r>
          </a:p>
          <a:p>
            <a:endParaRPr lang="en-IN" dirty="0"/>
          </a:p>
        </p:txBody>
      </p:sp>
      <p:sp>
        <p:nvSpPr>
          <p:cNvPr id="5" name="TextBox 4">
            <a:extLst>
              <a:ext uri="{FF2B5EF4-FFF2-40B4-BE49-F238E27FC236}">
                <a16:creationId xmlns:a16="http://schemas.microsoft.com/office/drawing/2014/main" id="{CF32BF73-47C8-C212-A7E0-D3BB9B5E0963}"/>
              </a:ext>
            </a:extLst>
          </p:cNvPr>
          <p:cNvSpPr txBox="1"/>
          <p:nvPr/>
        </p:nvSpPr>
        <p:spPr>
          <a:xfrm>
            <a:off x="1514764" y="2424630"/>
            <a:ext cx="8432799" cy="2092881"/>
          </a:xfrm>
          <a:prstGeom prst="rect">
            <a:avLst/>
          </a:prstGeom>
          <a:noFill/>
        </p:spPr>
        <p:txBody>
          <a:bodyPr wrap="square" rtlCol="0">
            <a:spAutoFit/>
          </a:bodyPr>
          <a:lstStyle/>
          <a:p>
            <a:pPr algn="just"/>
            <a:r>
              <a:rPr lang="en-IN" sz="1600" b="1" dirty="0"/>
              <a:t>Why Data Science?</a:t>
            </a:r>
          </a:p>
          <a:p>
            <a:pPr algn="just"/>
            <a:endParaRPr lang="en-IN" sz="1600" b="1" dirty="0"/>
          </a:p>
          <a:p>
            <a:pPr marL="285750" indent="-285750" algn="just">
              <a:buFont typeface="Arial" panose="020B0604020202020204" pitchFamily="34" charset="0"/>
              <a:buChar char="•"/>
            </a:pPr>
            <a:r>
              <a:rPr lang="en-IN" dirty="0"/>
              <a:t>As a fresher, I am eager to explore the world of data science because it combines my </a:t>
            </a:r>
            <a:r>
              <a:rPr lang="en-IN" dirty="0" err="1"/>
              <a:t>intrest</a:t>
            </a:r>
            <a:r>
              <a:rPr lang="en-IN" dirty="0"/>
              <a:t> in technology and problem-solving.</a:t>
            </a:r>
          </a:p>
          <a:p>
            <a:pPr marL="285750" indent="-285750" algn="just">
              <a:buFont typeface="Arial" panose="020B0604020202020204" pitchFamily="34" charset="0"/>
              <a:buChar char="•"/>
            </a:pPr>
            <a:r>
              <a:rPr lang="en-IN" dirty="0"/>
              <a:t>I believe that the data science has potential to transform industries by making data-driven decisions.</a:t>
            </a:r>
          </a:p>
          <a:p>
            <a:pPr marL="285750" indent="-285750" algn="just">
              <a:buFont typeface="Arial" panose="020B0604020202020204" pitchFamily="34" charset="0"/>
              <a:buChar char="•"/>
            </a:pPr>
            <a:r>
              <a:rPr lang="en-IN" dirty="0"/>
              <a:t>Though I am new to this field, I am passionate about learning and improving my skills in areas such as data analysis, visualization, and machine learning.</a:t>
            </a:r>
          </a:p>
          <a:p>
            <a:pPr marL="285750" indent="-285750" algn="just">
              <a:buFont typeface="Arial" panose="020B0604020202020204" pitchFamily="34" charset="0"/>
              <a:buChar char="•"/>
            </a:pPr>
            <a:r>
              <a:rPr lang="en-IN" dirty="0"/>
              <a:t>I see the data as a field where I can grow and make significant impact by applying what I learn to real-world problems.</a:t>
            </a:r>
          </a:p>
        </p:txBody>
      </p:sp>
      <p:sp>
        <p:nvSpPr>
          <p:cNvPr id="8" name="Rectangle 4">
            <a:extLst>
              <a:ext uri="{FF2B5EF4-FFF2-40B4-BE49-F238E27FC236}">
                <a16:creationId xmlns:a16="http://schemas.microsoft.com/office/drawing/2014/main" id="{D1CDFFD3-739C-9AAB-3C32-D4D4D90B44EF}"/>
              </a:ext>
            </a:extLst>
          </p:cNvPr>
          <p:cNvSpPr>
            <a:spLocks noChangeArrowheads="1"/>
          </p:cNvSpPr>
          <p:nvPr/>
        </p:nvSpPr>
        <p:spPr bwMode="auto">
          <a:xfrm>
            <a:off x="1597735" y="5094099"/>
            <a:ext cx="672171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GitHub Link</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sng" strike="noStrike" cap="none" normalizeH="0" baseline="0" dirty="0">
                <a:ln>
                  <a:noFill/>
                </a:ln>
                <a:solidFill>
                  <a:srgbClr val="0070C0"/>
                </a:solidFill>
                <a:effectLst/>
                <a:latin typeface="Arial" panose="020B0604020202020204" pitchFamily="34" charset="0"/>
                <a:hlinkClick r:id="rId3"/>
              </a:rPr>
              <a:t>https://github.com/ALLAM-SRIDHAR/Electric-Vehicles.git</a:t>
            </a:r>
            <a:endParaRPr kumimoji="0" lang="en-US" altLang="en-US" sz="1600" b="0" i="0" u="sng" strike="noStrike" cap="none" normalizeH="0" baseline="0" dirty="0">
              <a:ln>
                <a:noFill/>
              </a:ln>
              <a:solidFill>
                <a:srgbClr val="0070C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LinkedIn Profile</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tx1"/>
                </a:solidFill>
                <a:effectLst/>
                <a:latin typeface="Arial" panose="020B0604020202020204" pitchFamily="34" charset="0"/>
                <a:hlinkClick r:id="rId4"/>
              </a:rPr>
              <a:t>www.linkedin.com/in/ALLAM-SRlDHAR</a:t>
            </a:r>
            <a:r>
              <a:rPr kumimoji="0" lang="en-US" altLang="en-US" sz="1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fade">
                                      <p:cBhvr>
                                        <p:cTn id="7" dur="500"/>
                                        <p:tgtEl>
                                          <p:spTgt spid="1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362FF-F836-9099-15EA-544C96A67A2A}"/>
              </a:ext>
            </a:extLst>
          </p:cNvPr>
          <p:cNvSpPr>
            <a:spLocks noGrp="1"/>
          </p:cNvSpPr>
          <p:nvPr>
            <p:ph type="title"/>
          </p:nvPr>
        </p:nvSpPr>
        <p:spPr/>
        <p:txBody>
          <a:bodyPr>
            <a:normAutofit/>
          </a:bodyPr>
          <a:lstStyle/>
          <a:p>
            <a:r>
              <a:rPr lang="en-IN" sz="3200" dirty="0">
                <a:solidFill>
                  <a:srgbClr val="FF0000"/>
                </a:solidFill>
              </a:rPr>
              <a:t>Agenda</a:t>
            </a:r>
          </a:p>
        </p:txBody>
      </p:sp>
      <p:sp>
        <p:nvSpPr>
          <p:cNvPr id="4" name="Rectangle 1">
            <a:extLst>
              <a:ext uri="{FF2B5EF4-FFF2-40B4-BE49-F238E27FC236}">
                <a16:creationId xmlns:a16="http://schemas.microsoft.com/office/drawing/2014/main" id="{6FA90612-3536-3C06-BA74-C397A8EFE658}"/>
              </a:ext>
            </a:extLst>
          </p:cNvPr>
          <p:cNvSpPr>
            <a:spLocks noChangeArrowheads="1"/>
          </p:cNvSpPr>
          <p:nvPr/>
        </p:nvSpPr>
        <p:spPr bwMode="auto">
          <a:xfrm>
            <a:off x="1163781" y="1850404"/>
            <a:ext cx="3805383"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1. Introduction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2. Data Description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3. Univariate Analysis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4. Bivariate Analysis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5. </a:t>
            </a:r>
            <a:r>
              <a:rPr lang="en-US" altLang="en-US" sz="1800" b="1" dirty="0">
                <a:solidFill>
                  <a:schemeClr val="tx1"/>
                </a:solidFill>
                <a:latin typeface="Arial" panose="020B0604020202020204" pitchFamily="34" charset="0"/>
              </a:rPr>
              <a:t>Task</a:t>
            </a:r>
            <a:r>
              <a:rPr kumimoji="0" lang="en-US" altLang="en-US" sz="1800" b="1" i="0" u="none" strike="noStrike" cap="none" normalizeH="0" baseline="0" dirty="0">
                <a:ln>
                  <a:noFill/>
                </a:ln>
                <a:solidFill>
                  <a:schemeClr val="tx1"/>
                </a:solidFill>
                <a:effectLst/>
                <a:latin typeface="Arial" panose="020B0604020202020204" pitchFamily="34" charset="0"/>
              </a:rPr>
              <a:t> Questions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6. Conclusion</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960108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6BDCA-EEC4-5B88-C8AA-2A1CBD569F72}"/>
              </a:ext>
            </a:extLst>
          </p:cNvPr>
          <p:cNvSpPr>
            <a:spLocks noGrp="1"/>
          </p:cNvSpPr>
          <p:nvPr>
            <p:ph type="title"/>
          </p:nvPr>
        </p:nvSpPr>
        <p:spPr>
          <a:xfrm>
            <a:off x="681182" y="337415"/>
            <a:ext cx="10515600" cy="1325563"/>
          </a:xfrm>
        </p:spPr>
        <p:txBody>
          <a:bodyPr>
            <a:normAutofit/>
          </a:bodyPr>
          <a:lstStyle/>
          <a:p>
            <a:r>
              <a:rPr lang="en-IN" sz="3200" dirty="0">
                <a:solidFill>
                  <a:srgbClr val="FF0000"/>
                </a:solidFill>
              </a:rPr>
              <a:t>Introduction</a:t>
            </a:r>
          </a:p>
        </p:txBody>
      </p:sp>
      <p:sp>
        <p:nvSpPr>
          <p:cNvPr id="4" name="Rectangle 1">
            <a:extLst>
              <a:ext uri="{FF2B5EF4-FFF2-40B4-BE49-F238E27FC236}">
                <a16:creationId xmlns:a16="http://schemas.microsoft.com/office/drawing/2014/main" id="{D6ABA305-BC53-7686-DCBC-92F54FB55DC1}"/>
              </a:ext>
            </a:extLst>
          </p:cNvPr>
          <p:cNvSpPr>
            <a:spLocks noChangeArrowheads="1"/>
          </p:cNvSpPr>
          <p:nvPr/>
        </p:nvSpPr>
        <p:spPr bwMode="auto">
          <a:xfrm>
            <a:off x="1462967" y="1527535"/>
            <a:ext cx="895202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Context</a:t>
            </a:r>
            <a:r>
              <a:rPr kumimoji="0" lang="en-US" altLang="en-US" sz="1800" b="0" i="0" u="none" strike="noStrike" cap="none" normalizeH="0" baseline="0" dirty="0">
                <a:ln>
                  <a:noFill/>
                </a:ln>
                <a:solidFill>
                  <a:schemeClr val="tx1"/>
                </a:solidFill>
                <a:effectLst/>
                <a:latin typeface="Arial" panose="020B0604020202020204" pitchFamily="34" charset="0"/>
              </a:rPr>
              <a:t>: The rise of Electric Vehicles (EVs) is a significant development in the 	automotive industry. With increasing focus on sustainability, many 	automakers are shifting towards EV production. This dataset contains 	information on EV makes and their adoption over different model years.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Objective</a:t>
            </a:r>
            <a:r>
              <a:rPr kumimoji="0" lang="en-US" altLang="en-US" sz="1800" b="0" i="0" u="none" strike="noStrike" cap="none" normalizeH="0" baseline="0" dirty="0">
                <a:ln>
                  <a:noFill/>
                </a:ln>
                <a:solidFill>
                  <a:schemeClr val="tx1"/>
                </a:solidFill>
                <a:effectLst/>
                <a:latin typeface="Arial" panose="020B0604020202020204" pitchFamily="34" charset="0"/>
              </a:rPr>
              <a:t>: The goal of this analysis is to explore the trends in EV manufacturing, 	understand the distribution of different makes across model years, and 	analyze key patterns in the growth of EVs.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Key Focus</a:t>
            </a:r>
            <a:r>
              <a:rPr kumimoji="0" lang="en-US" altLang="en-US" sz="1800" b="0" i="0" u="none" strike="noStrike" cap="none" normalizeH="0" baseline="0" dirty="0">
                <a:ln>
                  <a:noFill/>
                </a:ln>
                <a:solidFill>
                  <a:schemeClr val="tx1"/>
                </a:solidFill>
                <a:effectLst/>
                <a:latin typeface="Arial" panose="020B0604020202020204" pitchFamily="34" charset="0"/>
              </a:rPr>
              <a:t>: The analysis will focus on understanding the spread of EVs by model 	year, identifying the most prominent manufacturers, and how the market for 	EVs has evolved over time. </a:t>
            </a:r>
          </a:p>
        </p:txBody>
      </p:sp>
    </p:spTree>
    <p:extLst>
      <p:ext uri="{BB962C8B-B14F-4D97-AF65-F5344CB8AC3E}">
        <p14:creationId xmlns:p14="http://schemas.microsoft.com/office/powerpoint/2010/main" val="1754433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715C4-07D9-D565-70D9-058C5D830203}"/>
              </a:ext>
            </a:extLst>
          </p:cNvPr>
          <p:cNvSpPr>
            <a:spLocks noGrp="1"/>
          </p:cNvSpPr>
          <p:nvPr>
            <p:ph type="title"/>
          </p:nvPr>
        </p:nvSpPr>
        <p:spPr/>
        <p:txBody>
          <a:bodyPr>
            <a:normAutofit/>
          </a:bodyPr>
          <a:lstStyle/>
          <a:p>
            <a:r>
              <a:rPr lang="en-IN" sz="3200" dirty="0">
                <a:solidFill>
                  <a:srgbClr val="FF0000"/>
                </a:solidFill>
              </a:rPr>
              <a:t>Data Description</a:t>
            </a:r>
          </a:p>
        </p:txBody>
      </p:sp>
      <p:sp>
        <p:nvSpPr>
          <p:cNvPr id="3" name="Rectangle 1">
            <a:extLst>
              <a:ext uri="{FF2B5EF4-FFF2-40B4-BE49-F238E27FC236}">
                <a16:creationId xmlns:a16="http://schemas.microsoft.com/office/drawing/2014/main" id="{74FCEA73-A7E6-624C-4B2B-CEADD7F05C67}"/>
              </a:ext>
            </a:extLst>
          </p:cNvPr>
          <p:cNvSpPr>
            <a:spLocks noChangeArrowheads="1"/>
          </p:cNvSpPr>
          <p:nvPr/>
        </p:nvSpPr>
        <p:spPr bwMode="auto">
          <a:xfrm>
            <a:off x="1907673" y="1490728"/>
            <a:ext cx="837665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Dataset Overview</a:t>
            </a:r>
            <a:r>
              <a:rPr kumimoji="0" lang="en-US" altLang="en-US" sz="1600" b="0" i="0" u="none" strike="noStrike" cap="none" normalizeH="0" baseline="0" dirty="0">
                <a:ln>
                  <a:noFill/>
                </a:ln>
                <a:solidFill>
                  <a:schemeClr val="tx1"/>
                </a:solidFill>
                <a:effectLst/>
                <a:latin typeface="Arial" panose="020B0604020202020204" pitchFamily="34" charset="0"/>
              </a:rPr>
              <a:t>: The dataset includes information on EV makes and their respective 	model </a:t>
            </a:r>
            <a:r>
              <a:rPr kumimoji="0" lang="en-US" altLang="en-US" sz="1600" b="0" i="0" u="none" strike="noStrike" cap="none" normalizeH="0" baseline="0" dirty="0" err="1">
                <a:ln>
                  <a:noFill/>
                </a:ln>
                <a:solidFill>
                  <a:schemeClr val="tx1"/>
                </a:solidFill>
                <a:effectLst/>
                <a:latin typeface="Arial" panose="020B0604020202020204" pitchFamily="34" charset="0"/>
              </a:rPr>
              <a:t>years,Location</a:t>
            </a:r>
            <a:r>
              <a:rPr kumimoji="0" lang="en-US" altLang="en-US" sz="1600" b="0" i="0" u="none" strike="noStrike" cap="none" normalizeH="0" baseline="0" dirty="0">
                <a:ln>
                  <a:noFill/>
                </a:ln>
                <a:solidFill>
                  <a:schemeClr val="tx1"/>
                </a:solidFill>
                <a:effectLst/>
                <a:latin typeface="Arial" panose="020B0604020202020204" pitchFamily="34" charset="0"/>
              </a:rPr>
              <a:t> (Country, State, County</a:t>
            </a:r>
            <a:r>
              <a:rPr lang="en-US" altLang="en-US" sz="1600" dirty="0">
                <a:solidFill>
                  <a:schemeClr val="tx1"/>
                </a:solidFill>
                <a:latin typeface="Arial" panose="020B0604020202020204" pitchFamily="34" charset="0"/>
              </a:rPr>
              <a:t>, City, Zip Codes), Electric Vehicle 	type, CAFV eligibility, etc..</a:t>
            </a:r>
            <a:r>
              <a:rPr kumimoji="0" lang="en-US" altLang="en-US" sz="1600" b="0" i="0" u="none" strike="noStrike" cap="none" normalizeH="0" baseline="0" dirty="0">
                <a:ln>
                  <a:noFill/>
                </a:ln>
                <a:solidFill>
                  <a:schemeClr val="tx1"/>
                </a:solidFill>
                <a:effectLst/>
                <a:latin typeface="Arial" panose="020B0604020202020204" pitchFamily="34" charset="0"/>
              </a:rPr>
              <a:t>. There are around 17 columns and 112634 rows in 	the dataset.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1" i="0" u="none" strike="noStrike" cap="none" normalizeH="0" baseline="0" dirty="0">
                <a:ln>
                  <a:noFill/>
                </a:ln>
                <a:solidFill>
                  <a:schemeClr val="tx1"/>
                </a:solidFill>
                <a:effectLst/>
                <a:latin typeface="Arial" panose="020B0604020202020204" pitchFamily="34" charset="0"/>
              </a:rPr>
              <a:t>Columns</a:t>
            </a:r>
            <a:r>
              <a:rPr kumimoji="0" lang="en-US" altLang="en-US" sz="1600" b="0" i="0" u="none" strike="noStrike" cap="none" normalizeH="0" baseline="0" dirty="0">
                <a:ln>
                  <a:noFill/>
                </a:ln>
                <a:solidFill>
                  <a:schemeClr val="tx1"/>
                </a:solidFill>
                <a:effectLst/>
                <a:latin typeface="Arial" panose="020B0604020202020204" pitchFamily="34" charset="0"/>
              </a:rPr>
              <a:t>: </a:t>
            </a:r>
            <a:r>
              <a:rPr kumimoji="0" lang="en-US" altLang="en-US" sz="1600" b="0" i="0" u="none" strike="noStrike" cap="none" normalizeH="0" baseline="0" dirty="0">
                <a:ln>
                  <a:noFill/>
                </a:ln>
                <a:solidFill>
                  <a:schemeClr val="bg1">
                    <a:lumMod val="75000"/>
                  </a:schemeClr>
                </a:solidFill>
                <a:effectLst/>
                <a:latin typeface="Arial" panose="020B0604020202020204" pitchFamily="34" charset="0"/>
              </a:rPr>
              <a:t>(Total 17 columns)</a:t>
            </a:r>
          </a:p>
          <a:p>
            <a:pPr lvl="2" eaLnBrk="0" fontAlgn="base" hangingPunct="0">
              <a:spcBef>
                <a:spcPct val="0"/>
              </a:spcBef>
              <a:spcAft>
                <a:spcPct val="0"/>
              </a:spcAft>
              <a:buClrTx/>
              <a:buFontTx/>
              <a:buChar char="•"/>
            </a:pPr>
            <a:r>
              <a:rPr kumimoji="0" lang="en-US" altLang="en-US" sz="1600" b="1" i="0" u="none" strike="noStrike" cap="none" normalizeH="0" baseline="0" dirty="0">
                <a:ln>
                  <a:noFill/>
                </a:ln>
                <a:solidFill>
                  <a:schemeClr val="tx1"/>
                </a:solidFill>
                <a:effectLst/>
                <a:latin typeface="Arial" panose="020B0604020202020204" pitchFamily="34" charset="0"/>
              </a:rPr>
              <a:t>State</a:t>
            </a:r>
            <a:r>
              <a:rPr kumimoji="0" lang="en-US" altLang="en-US" sz="1600" b="0" i="0" u="none" strike="noStrike" cap="none" normalizeH="0" baseline="0" dirty="0">
                <a:ln>
                  <a:noFill/>
                </a:ln>
                <a:solidFill>
                  <a:schemeClr val="tx1"/>
                </a:solidFill>
                <a:effectLst/>
                <a:latin typeface="Arial" panose="020B0604020202020204" pitchFamily="34" charset="0"/>
              </a:rPr>
              <a:t>: State where the vehicle is registered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Model Year</a:t>
            </a:r>
            <a:r>
              <a:rPr kumimoji="0" lang="en-US" altLang="en-US" sz="1600" b="0" i="0" u="none" strike="noStrike" cap="none" normalizeH="0" baseline="0" dirty="0">
                <a:ln>
                  <a:noFill/>
                </a:ln>
                <a:solidFill>
                  <a:schemeClr val="tx1"/>
                </a:solidFill>
                <a:effectLst/>
                <a:latin typeface="Arial" panose="020B0604020202020204" pitchFamily="34" charset="0"/>
              </a:rPr>
              <a:t>: Year the vehicle model was manufactured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Make</a:t>
            </a:r>
            <a:r>
              <a:rPr kumimoji="0" lang="en-US" altLang="en-US" sz="1600" b="0" i="0" u="none" strike="noStrike" cap="none" normalizeH="0" baseline="0" dirty="0">
                <a:ln>
                  <a:noFill/>
                </a:ln>
                <a:solidFill>
                  <a:schemeClr val="tx1"/>
                </a:solidFill>
                <a:effectLst/>
                <a:latin typeface="Arial" panose="020B0604020202020204" pitchFamily="34" charset="0"/>
              </a:rPr>
              <a:t>: Manufacturer of the vehicle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Model</a:t>
            </a:r>
            <a:r>
              <a:rPr kumimoji="0" lang="en-US" altLang="en-US" sz="1600" b="0" i="0" u="none" strike="noStrike" cap="none" normalizeH="0" baseline="0" dirty="0">
                <a:ln>
                  <a:noFill/>
                </a:ln>
                <a:solidFill>
                  <a:schemeClr val="tx1"/>
                </a:solidFill>
                <a:effectLst/>
                <a:latin typeface="Arial" panose="020B0604020202020204" pitchFamily="34" charset="0"/>
              </a:rPr>
              <a:t>: Model of the vehicle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Electric Vehicle Type</a:t>
            </a:r>
            <a:r>
              <a:rPr kumimoji="0" lang="en-US" altLang="en-US" sz="1600" b="0" i="0" u="none" strike="noStrike" cap="none" normalizeH="0" baseline="0" dirty="0">
                <a:ln>
                  <a:noFill/>
                </a:ln>
                <a:solidFill>
                  <a:schemeClr val="tx1"/>
                </a:solidFill>
                <a:effectLst/>
                <a:latin typeface="Arial" panose="020B0604020202020204" pitchFamily="34" charset="0"/>
              </a:rPr>
              <a:t>: Type of electric vehicle (BEV, PHEV,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Electric Range</a:t>
            </a:r>
            <a:r>
              <a:rPr kumimoji="0" lang="en-US" altLang="en-US" sz="1600" b="0" i="0" u="none" strike="noStrike" cap="none" normalizeH="0" baseline="0" dirty="0">
                <a:ln>
                  <a:noFill/>
                </a:ln>
                <a:solidFill>
                  <a:schemeClr val="tx1"/>
                </a:solidFill>
                <a:effectLst/>
                <a:latin typeface="Arial" panose="020B0604020202020204" pitchFamily="34" charset="0"/>
              </a:rPr>
              <a:t>: The electric range of the vehicle in miles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Base MSRP</a:t>
            </a:r>
            <a:r>
              <a:rPr kumimoji="0" lang="en-US" altLang="en-US" sz="1600" b="0" i="0" u="none" strike="noStrike" cap="none" normalizeH="0" baseline="0" dirty="0">
                <a:ln>
                  <a:noFill/>
                </a:ln>
                <a:solidFill>
                  <a:schemeClr val="tx1"/>
                </a:solidFill>
                <a:effectLst/>
                <a:latin typeface="Arial" panose="020B0604020202020204" pitchFamily="34" charset="0"/>
              </a:rPr>
              <a:t>: Base Manufacturer's Suggested Retail Price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1" i="0" u="none" strike="noStrike" cap="none" normalizeH="0" baseline="0" dirty="0">
                <a:ln>
                  <a:noFill/>
                </a:ln>
                <a:solidFill>
                  <a:schemeClr val="tx1"/>
                </a:solidFill>
                <a:effectLst/>
                <a:latin typeface="Arial" panose="020B0604020202020204" pitchFamily="34" charset="0"/>
              </a:rPr>
              <a:t>Vehicle Location</a:t>
            </a:r>
            <a:r>
              <a:rPr kumimoji="0" lang="en-US" altLang="en-US" sz="1600" b="0" i="0" u="none" strike="noStrike" cap="none" normalizeH="0" baseline="0" dirty="0">
                <a:ln>
                  <a:noFill/>
                </a:ln>
                <a:solidFill>
                  <a:schemeClr val="tx1"/>
                </a:solidFill>
                <a:effectLst/>
                <a:latin typeface="Arial" panose="020B0604020202020204" pitchFamily="34" charset="0"/>
              </a:rPr>
              <a:t>: Geographic coordinates of the vehicle's registered location</a:t>
            </a:r>
          </a:p>
          <a:p>
            <a:pPr marL="0" marR="0" lvl="0" indent="0" algn="l" defTabSz="914400" rtl="0" eaLnBrk="0" fontAlgn="base" latinLnBrk="0" hangingPunct="0">
              <a:lnSpc>
                <a:spcPct val="100000"/>
              </a:lnSpc>
              <a:spcBef>
                <a:spcPct val="0"/>
              </a:spcBef>
              <a:spcAft>
                <a:spcPct val="0"/>
              </a:spcAft>
              <a:buClrTx/>
              <a:buSzTx/>
              <a:tabLst/>
            </a:pPr>
            <a:r>
              <a:rPr lang="en-US" altLang="en-US" sz="1600" dirty="0">
                <a:solidFill>
                  <a:schemeClr val="tx1"/>
                </a:solidFill>
                <a:latin typeface="Arial" panose="020B0604020202020204" pitchFamily="34" charset="0"/>
              </a:rPr>
              <a:t> </a:t>
            </a:r>
            <a:r>
              <a:rPr lang="en-US" altLang="en-US" sz="1600" dirty="0" err="1">
                <a:solidFill>
                  <a:schemeClr val="tx1"/>
                </a:solidFill>
                <a:latin typeface="Arial" panose="020B0604020202020204" pitchFamily="34" charset="0"/>
              </a:rPr>
              <a:t>etc</a:t>
            </a:r>
            <a:r>
              <a:rPr lang="en-US" altLang="en-US" sz="1600" dirty="0">
                <a:solidFill>
                  <a:schemeClr val="tx1"/>
                </a:solidFill>
                <a:latin typeface="Arial" panose="020B0604020202020204" pitchFamily="34" charset="0"/>
              </a:rPr>
              <a:t>… are some  of the columns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chemeClr val="tx1"/>
                </a:solidFill>
                <a:effectLst/>
                <a:latin typeface="Arial" panose="020B0604020202020204" pitchFamily="34" charset="0"/>
              </a:rPr>
              <a:t>	The dataset covers a range of years, focusing on the period from 1997 to 2023, with limited data for 2023. </a:t>
            </a:r>
          </a:p>
        </p:txBody>
      </p:sp>
    </p:spTree>
    <p:extLst>
      <p:ext uri="{BB962C8B-B14F-4D97-AF65-F5344CB8AC3E}">
        <p14:creationId xmlns:p14="http://schemas.microsoft.com/office/powerpoint/2010/main" val="1461292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F27CA-0B76-08D1-8802-182109632092}"/>
              </a:ext>
            </a:extLst>
          </p:cNvPr>
          <p:cNvSpPr>
            <a:spLocks noGrp="1"/>
          </p:cNvSpPr>
          <p:nvPr>
            <p:ph type="title"/>
          </p:nvPr>
        </p:nvSpPr>
        <p:spPr/>
        <p:txBody>
          <a:bodyPr>
            <a:normAutofit/>
          </a:bodyPr>
          <a:lstStyle/>
          <a:p>
            <a:r>
              <a:rPr lang="en-IN" sz="3200" dirty="0">
                <a:solidFill>
                  <a:srgbClr val="FF0000"/>
                </a:solidFill>
              </a:rPr>
              <a:t>Data Cleaning and Data Manipulation</a:t>
            </a:r>
          </a:p>
        </p:txBody>
      </p:sp>
      <p:sp>
        <p:nvSpPr>
          <p:cNvPr id="4" name="TextBox 3">
            <a:extLst>
              <a:ext uri="{FF2B5EF4-FFF2-40B4-BE49-F238E27FC236}">
                <a16:creationId xmlns:a16="http://schemas.microsoft.com/office/drawing/2014/main" id="{AC794651-E2F5-CCB9-7EBD-CA177A7E2EBE}"/>
              </a:ext>
            </a:extLst>
          </p:cNvPr>
          <p:cNvSpPr txBox="1"/>
          <p:nvPr/>
        </p:nvSpPr>
        <p:spPr>
          <a:xfrm>
            <a:off x="1043709" y="1801091"/>
            <a:ext cx="9966036" cy="2893100"/>
          </a:xfrm>
          <a:prstGeom prst="rect">
            <a:avLst/>
          </a:prstGeom>
          <a:noFill/>
        </p:spPr>
        <p:txBody>
          <a:bodyPr wrap="square" rtlCol="0">
            <a:spAutoFit/>
          </a:bodyPr>
          <a:lstStyle/>
          <a:p>
            <a:r>
              <a:rPr lang="en-IN" dirty="0"/>
              <a:t>Step1: Handling Missing values:</a:t>
            </a:r>
          </a:p>
          <a:p>
            <a:r>
              <a:rPr lang="en-IN" dirty="0"/>
              <a:t>	Since Model, Electric Utility Columns are Categorical I imputed values with Most frequent values(i.e. Mode).</a:t>
            </a:r>
          </a:p>
          <a:p>
            <a:r>
              <a:rPr lang="en-IN" dirty="0"/>
              <a:t>	Since Vehicle Location Column contains coordinates of location, so I replaced null values with ‘Unknown’</a:t>
            </a:r>
          </a:p>
          <a:p>
            <a:endParaRPr lang="en-IN" dirty="0"/>
          </a:p>
          <a:p>
            <a:r>
              <a:rPr lang="en-IN" dirty="0"/>
              <a:t>Step2: Transformation:</a:t>
            </a:r>
          </a:p>
          <a:p>
            <a:r>
              <a:rPr lang="en-IN" dirty="0"/>
              <a:t>	Converted columns like Postal Code, Model Year, DOL Vehicle ID, 2020 Census Tract from numeric to 	String/Object columns.</a:t>
            </a:r>
          </a:p>
          <a:p>
            <a:endParaRPr lang="en-IN" dirty="0"/>
          </a:p>
          <a:p>
            <a:r>
              <a:rPr lang="en-IN" dirty="0"/>
              <a:t>	Legislative District column is by default taken as float, so first I converted it to string and then removed the .0 	from the values and then converted it to Category columns.</a:t>
            </a:r>
          </a:p>
          <a:p>
            <a:endParaRPr lang="en-IN" dirty="0"/>
          </a:p>
          <a:p>
            <a:r>
              <a:rPr lang="en-IN" dirty="0"/>
              <a:t>Step3: Outlier Detection: </a:t>
            </a:r>
          </a:p>
          <a:p>
            <a:r>
              <a:rPr lang="en-IN" dirty="0"/>
              <a:t>	Using IQR method I did Outlier Detection.</a:t>
            </a:r>
          </a:p>
        </p:txBody>
      </p:sp>
    </p:spTree>
    <p:extLst>
      <p:ext uri="{BB962C8B-B14F-4D97-AF65-F5344CB8AC3E}">
        <p14:creationId xmlns:p14="http://schemas.microsoft.com/office/powerpoint/2010/main" val="35628470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445EB3-D8EE-8238-1D64-82541D84561E}"/>
              </a:ext>
            </a:extLst>
          </p:cNvPr>
          <p:cNvSpPr>
            <a:spLocks noGrp="1"/>
          </p:cNvSpPr>
          <p:nvPr>
            <p:ph type="title"/>
          </p:nvPr>
        </p:nvSpPr>
        <p:spPr/>
        <p:txBody>
          <a:bodyPr>
            <a:normAutofit/>
          </a:bodyPr>
          <a:lstStyle/>
          <a:p>
            <a:r>
              <a:rPr lang="en-IN" sz="3200" dirty="0">
                <a:solidFill>
                  <a:srgbClr val="FF0000"/>
                </a:solidFill>
              </a:rPr>
              <a:t>Univariate Analysis</a:t>
            </a:r>
          </a:p>
        </p:txBody>
      </p:sp>
      <p:sp>
        <p:nvSpPr>
          <p:cNvPr id="3" name="TextBox 2">
            <a:extLst>
              <a:ext uri="{FF2B5EF4-FFF2-40B4-BE49-F238E27FC236}">
                <a16:creationId xmlns:a16="http://schemas.microsoft.com/office/drawing/2014/main" id="{0B68177F-FDD2-1398-1E6C-720AF32D5CB9}"/>
              </a:ext>
            </a:extLst>
          </p:cNvPr>
          <p:cNvSpPr txBox="1"/>
          <p:nvPr/>
        </p:nvSpPr>
        <p:spPr>
          <a:xfrm>
            <a:off x="914400" y="1690688"/>
            <a:ext cx="10021455" cy="1384995"/>
          </a:xfrm>
          <a:prstGeom prst="rect">
            <a:avLst/>
          </a:prstGeom>
          <a:noFill/>
        </p:spPr>
        <p:txBody>
          <a:bodyPr wrap="square" rtlCol="0">
            <a:spAutoFit/>
          </a:bodyPr>
          <a:lstStyle/>
          <a:p>
            <a:r>
              <a:rPr lang="en-IN" dirty="0"/>
              <a:t>In order to perform univariate analysis first I separated numerical columns and categorical columns separately, into </a:t>
            </a:r>
            <a:r>
              <a:rPr lang="en-IN" dirty="0" err="1"/>
              <a:t>numerical_cols</a:t>
            </a:r>
            <a:r>
              <a:rPr lang="en-IN" dirty="0"/>
              <a:t> and </a:t>
            </a:r>
            <a:r>
              <a:rPr lang="en-IN" dirty="0" err="1"/>
              <a:t>categorical_cols</a:t>
            </a:r>
            <a:r>
              <a:rPr lang="en-IN" dirty="0"/>
              <a:t> columns.</a:t>
            </a:r>
          </a:p>
          <a:p>
            <a:endParaRPr lang="en-IN" dirty="0"/>
          </a:p>
          <a:p>
            <a:r>
              <a:rPr lang="en-IN" dirty="0"/>
              <a:t>	</a:t>
            </a:r>
            <a:r>
              <a:rPr lang="en-US" dirty="0" err="1"/>
              <a:t>numerical_cols</a:t>
            </a:r>
            <a:r>
              <a:rPr lang="en-US" dirty="0"/>
              <a:t>=</a:t>
            </a:r>
            <a:r>
              <a:rPr lang="en-US" dirty="0" err="1"/>
              <a:t>df.select_dtypes</a:t>
            </a:r>
            <a:r>
              <a:rPr lang="en-US" dirty="0"/>
              <a:t>(include=[</a:t>
            </a:r>
            <a:r>
              <a:rPr lang="en-US" dirty="0" err="1"/>
              <a:t>np.number</a:t>
            </a:r>
            <a:r>
              <a:rPr lang="en-US" dirty="0"/>
              <a:t>]).columns</a:t>
            </a:r>
            <a:endParaRPr lang="en-IN" dirty="0"/>
          </a:p>
          <a:p>
            <a:r>
              <a:rPr lang="en-IN" dirty="0"/>
              <a:t>	</a:t>
            </a:r>
            <a:r>
              <a:rPr lang="en-US" dirty="0" err="1"/>
              <a:t>categorical_cols</a:t>
            </a:r>
            <a:r>
              <a:rPr lang="en-US" dirty="0"/>
              <a:t>=</a:t>
            </a:r>
            <a:r>
              <a:rPr lang="en-US" dirty="0" err="1"/>
              <a:t>df.select_dtypes</a:t>
            </a:r>
            <a:r>
              <a:rPr lang="en-US" dirty="0"/>
              <a:t>(include=['</a:t>
            </a:r>
            <a:r>
              <a:rPr lang="en-US" dirty="0" err="1"/>
              <a:t>object','category</a:t>
            </a:r>
            <a:r>
              <a:rPr lang="en-US" dirty="0"/>
              <a:t>']).columns</a:t>
            </a:r>
          </a:p>
          <a:p>
            <a:endParaRPr lang="en-US" dirty="0"/>
          </a:p>
        </p:txBody>
      </p:sp>
      <p:sp>
        <p:nvSpPr>
          <p:cNvPr id="4" name="TextBox 3">
            <a:extLst>
              <a:ext uri="{FF2B5EF4-FFF2-40B4-BE49-F238E27FC236}">
                <a16:creationId xmlns:a16="http://schemas.microsoft.com/office/drawing/2014/main" id="{E6730155-AB1E-0DF7-93AD-4FE2BB97E73C}"/>
              </a:ext>
            </a:extLst>
          </p:cNvPr>
          <p:cNvSpPr txBox="1"/>
          <p:nvPr/>
        </p:nvSpPr>
        <p:spPr>
          <a:xfrm>
            <a:off x="988291" y="3168073"/>
            <a:ext cx="9947564" cy="1600438"/>
          </a:xfrm>
          <a:prstGeom prst="rect">
            <a:avLst/>
          </a:prstGeom>
          <a:noFill/>
        </p:spPr>
        <p:txBody>
          <a:bodyPr wrap="square" rtlCol="0">
            <a:spAutoFit/>
          </a:bodyPr>
          <a:lstStyle/>
          <a:p>
            <a:r>
              <a:rPr lang="en-IN" b="1" dirty="0"/>
              <a:t>Numerical Columns:</a:t>
            </a:r>
          </a:p>
          <a:p>
            <a:r>
              <a:rPr lang="en-IN" dirty="0"/>
              <a:t>	For numerical columns I did find the min, max, mean, median, skewness, kurtosis, range, IQR, STD</a:t>
            </a:r>
          </a:p>
          <a:p>
            <a:r>
              <a:rPr lang="en-IN" dirty="0"/>
              <a:t>	Also plotted Histogram and Box plots for each column</a:t>
            </a:r>
          </a:p>
          <a:p>
            <a:endParaRPr lang="en-IN" dirty="0"/>
          </a:p>
          <a:p>
            <a:r>
              <a:rPr lang="en-IN" b="1" dirty="0"/>
              <a:t>Categorical Columns:</a:t>
            </a:r>
          </a:p>
          <a:p>
            <a:r>
              <a:rPr lang="en-IN" dirty="0"/>
              <a:t>	For categorical column I did find the unique(), </a:t>
            </a:r>
            <a:r>
              <a:rPr lang="en-IN" dirty="0" err="1"/>
              <a:t>nunique</a:t>
            </a:r>
            <a:r>
              <a:rPr lang="en-IN" dirty="0"/>
              <a:t>() and </a:t>
            </a:r>
            <a:r>
              <a:rPr lang="en-IN" dirty="0" err="1"/>
              <a:t>value_counts</a:t>
            </a:r>
            <a:r>
              <a:rPr lang="en-IN" dirty="0"/>
              <a:t>()</a:t>
            </a:r>
          </a:p>
          <a:p>
            <a:r>
              <a:rPr lang="en-IN" dirty="0"/>
              <a:t>	also plotted the Count plot (or bar plot) for each column</a:t>
            </a:r>
          </a:p>
        </p:txBody>
      </p:sp>
    </p:spTree>
    <p:extLst>
      <p:ext uri="{BB962C8B-B14F-4D97-AF65-F5344CB8AC3E}">
        <p14:creationId xmlns:p14="http://schemas.microsoft.com/office/powerpoint/2010/main" val="40985135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D7C57-1F8A-A466-CE43-B79B53C4EDE8}"/>
              </a:ext>
            </a:extLst>
          </p:cNvPr>
          <p:cNvSpPr>
            <a:spLocks noGrp="1"/>
          </p:cNvSpPr>
          <p:nvPr>
            <p:ph type="title"/>
          </p:nvPr>
        </p:nvSpPr>
        <p:spPr/>
        <p:txBody>
          <a:bodyPr>
            <a:normAutofit/>
          </a:bodyPr>
          <a:lstStyle/>
          <a:p>
            <a:r>
              <a:rPr lang="en-IN" sz="3200" dirty="0">
                <a:solidFill>
                  <a:srgbClr val="FF0000"/>
                </a:solidFill>
              </a:rPr>
              <a:t>Univariate Analysis:</a:t>
            </a:r>
          </a:p>
        </p:txBody>
      </p:sp>
      <p:pic>
        <p:nvPicPr>
          <p:cNvPr id="5" name="Picture 4">
            <a:extLst>
              <a:ext uri="{FF2B5EF4-FFF2-40B4-BE49-F238E27FC236}">
                <a16:creationId xmlns:a16="http://schemas.microsoft.com/office/drawing/2014/main" id="{0701F387-D3CB-75C6-3618-E6AF022E669D}"/>
              </a:ext>
            </a:extLst>
          </p:cNvPr>
          <p:cNvPicPr>
            <a:picLocks noChangeAspect="1"/>
          </p:cNvPicPr>
          <p:nvPr/>
        </p:nvPicPr>
        <p:blipFill>
          <a:blip r:embed="rId2"/>
          <a:stretch>
            <a:fillRect/>
          </a:stretch>
        </p:blipFill>
        <p:spPr>
          <a:xfrm>
            <a:off x="1097279" y="2078534"/>
            <a:ext cx="5313146" cy="3618394"/>
          </a:xfrm>
          <a:prstGeom prst="rect">
            <a:avLst/>
          </a:prstGeom>
        </p:spPr>
      </p:pic>
      <p:sp>
        <p:nvSpPr>
          <p:cNvPr id="6" name="TextBox 5">
            <a:extLst>
              <a:ext uri="{FF2B5EF4-FFF2-40B4-BE49-F238E27FC236}">
                <a16:creationId xmlns:a16="http://schemas.microsoft.com/office/drawing/2014/main" id="{F1A6CDB9-93FF-154C-26B4-66E5D6B2D78A}"/>
              </a:ext>
            </a:extLst>
          </p:cNvPr>
          <p:cNvSpPr txBox="1"/>
          <p:nvPr/>
        </p:nvSpPr>
        <p:spPr>
          <a:xfrm>
            <a:off x="1097279" y="1400598"/>
            <a:ext cx="3253340" cy="307777"/>
          </a:xfrm>
          <a:prstGeom prst="rect">
            <a:avLst/>
          </a:prstGeom>
          <a:noFill/>
        </p:spPr>
        <p:txBody>
          <a:bodyPr wrap="square" rtlCol="0">
            <a:spAutoFit/>
          </a:bodyPr>
          <a:lstStyle/>
          <a:p>
            <a:r>
              <a:rPr lang="en-IN" dirty="0"/>
              <a:t>For Numerical Columns:</a:t>
            </a:r>
          </a:p>
        </p:txBody>
      </p:sp>
      <p:sp>
        <p:nvSpPr>
          <p:cNvPr id="7" name="TextBox 6">
            <a:extLst>
              <a:ext uri="{FF2B5EF4-FFF2-40B4-BE49-F238E27FC236}">
                <a16:creationId xmlns:a16="http://schemas.microsoft.com/office/drawing/2014/main" id="{E5287052-B7E8-F21A-6C9C-D9C6D5BBC112}"/>
              </a:ext>
            </a:extLst>
          </p:cNvPr>
          <p:cNvSpPr txBox="1"/>
          <p:nvPr/>
        </p:nvSpPr>
        <p:spPr>
          <a:xfrm>
            <a:off x="6858803" y="1671317"/>
            <a:ext cx="4995511" cy="2677656"/>
          </a:xfrm>
          <a:prstGeom prst="rect">
            <a:avLst/>
          </a:prstGeom>
          <a:noFill/>
        </p:spPr>
        <p:txBody>
          <a:bodyPr wrap="square" rtlCol="0">
            <a:spAutoFit/>
          </a:bodyPr>
          <a:lstStyle/>
          <a:p>
            <a:r>
              <a:rPr lang="en-US" b="1" dirty="0"/>
              <a:t>Electric Range:</a:t>
            </a:r>
          </a:p>
          <a:p>
            <a:r>
              <a:rPr lang="en-US" dirty="0"/>
              <a:t>The data suggests that most vehicles in the dataset are either hybrids or short-range electric cars. </a:t>
            </a:r>
          </a:p>
          <a:p>
            <a:r>
              <a:rPr lang="en-US" dirty="0"/>
              <a:t>Vehicles with longer ranges, such as </a:t>
            </a:r>
            <a:r>
              <a:rPr lang="en-US" dirty="0" err="1"/>
              <a:t>Teslas</a:t>
            </a:r>
            <a:r>
              <a:rPr lang="en-US" dirty="0"/>
              <a:t> or other higher-end EVs, are present but less frequent.</a:t>
            </a:r>
          </a:p>
          <a:p>
            <a:r>
              <a:rPr lang="en-US" dirty="0"/>
              <a:t>The right-skewness of the data indicates a few vehicles have exceptionally high electric ranges, possibly high-performance models.</a:t>
            </a:r>
          </a:p>
          <a:p>
            <a:r>
              <a:rPr lang="en-US" dirty="0"/>
              <a:t>Given the concentration of values around 0-50 miles, the market for EVs appears to be dominated by vehicles with limited electric capabilities, potentially pointing towards hybrid cars.</a:t>
            </a:r>
            <a:endParaRPr lang="en-IN" dirty="0"/>
          </a:p>
        </p:txBody>
      </p:sp>
      <p:sp>
        <p:nvSpPr>
          <p:cNvPr id="8" name="TextBox 7">
            <a:extLst>
              <a:ext uri="{FF2B5EF4-FFF2-40B4-BE49-F238E27FC236}">
                <a16:creationId xmlns:a16="http://schemas.microsoft.com/office/drawing/2014/main" id="{9705D40A-3830-D711-F833-1ACEF67C0C68}"/>
              </a:ext>
            </a:extLst>
          </p:cNvPr>
          <p:cNvSpPr txBox="1"/>
          <p:nvPr/>
        </p:nvSpPr>
        <p:spPr>
          <a:xfrm>
            <a:off x="6930992" y="4348973"/>
            <a:ext cx="4697128" cy="1815882"/>
          </a:xfrm>
          <a:prstGeom prst="rect">
            <a:avLst/>
          </a:prstGeom>
          <a:noFill/>
        </p:spPr>
        <p:txBody>
          <a:bodyPr wrap="square" rtlCol="0">
            <a:spAutoFit/>
          </a:bodyPr>
          <a:lstStyle/>
          <a:p>
            <a:r>
              <a:rPr lang="en-US" b="1" dirty="0"/>
              <a:t>Base MSRP:</a:t>
            </a:r>
          </a:p>
          <a:p>
            <a:r>
              <a:rPr lang="en-US" dirty="0"/>
              <a:t>The high number of $0 values in the MSRP column is a concern, indicating missing or incomplete data.</a:t>
            </a:r>
          </a:p>
          <a:p>
            <a:r>
              <a:rPr lang="en-US" dirty="0"/>
              <a:t> These should either be treated as missing values or investigated further for clarification. </a:t>
            </a:r>
          </a:p>
          <a:p>
            <a:r>
              <a:rPr lang="en-US" dirty="0"/>
              <a:t>The distribution shows that most cars are affordable, but a few luxury cars drive up the maximum MSRP significantly, creating extreme outliers.</a:t>
            </a:r>
            <a:endParaRPr lang="en-IN" dirty="0"/>
          </a:p>
        </p:txBody>
      </p:sp>
    </p:spTree>
    <p:extLst>
      <p:ext uri="{BB962C8B-B14F-4D97-AF65-F5344CB8AC3E}">
        <p14:creationId xmlns:p14="http://schemas.microsoft.com/office/powerpoint/2010/main" val="2621528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C40A25-3CA6-C74A-9F6C-35022A12171A}"/>
              </a:ext>
            </a:extLst>
          </p:cNvPr>
          <p:cNvSpPr txBox="1"/>
          <p:nvPr/>
        </p:nvSpPr>
        <p:spPr>
          <a:xfrm>
            <a:off x="635267" y="308008"/>
            <a:ext cx="4090737" cy="307777"/>
          </a:xfrm>
          <a:prstGeom prst="rect">
            <a:avLst/>
          </a:prstGeom>
          <a:noFill/>
        </p:spPr>
        <p:txBody>
          <a:bodyPr wrap="square" rtlCol="0">
            <a:spAutoFit/>
          </a:bodyPr>
          <a:lstStyle/>
          <a:p>
            <a:r>
              <a:rPr lang="en-IN" dirty="0"/>
              <a:t>For Categorical columns:</a:t>
            </a:r>
          </a:p>
        </p:txBody>
      </p:sp>
      <p:pic>
        <p:nvPicPr>
          <p:cNvPr id="4" name="Picture 3">
            <a:extLst>
              <a:ext uri="{FF2B5EF4-FFF2-40B4-BE49-F238E27FC236}">
                <a16:creationId xmlns:a16="http://schemas.microsoft.com/office/drawing/2014/main" id="{E60317EA-C798-78E6-4FA0-6F97EB291962}"/>
              </a:ext>
            </a:extLst>
          </p:cNvPr>
          <p:cNvPicPr>
            <a:picLocks noChangeAspect="1"/>
          </p:cNvPicPr>
          <p:nvPr/>
        </p:nvPicPr>
        <p:blipFill>
          <a:blip r:embed="rId2"/>
          <a:stretch>
            <a:fillRect/>
          </a:stretch>
        </p:blipFill>
        <p:spPr>
          <a:xfrm>
            <a:off x="557938" y="688005"/>
            <a:ext cx="5072842" cy="2457736"/>
          </a:xfrm>
          <a:prstGeom prst="rect">
            <a:avLst/>
          </a:prstGeom>
        </p:spPr>
      </p:pic>
      <p:sp>
        <p:nvSpPr>
          <p:cNvPr id="5" name="TextBox 4">
            <a:extLst>
              <a:ext uri="{FF2B5EF4-FFF2-40B4-BE49-F238E27FC236}">
                <a16:creationId xmlns:a16="http://schemas.microsoft.com/office/drawing/2014/main" id="{CC4F7786-0C93-A39D-22D2-B5B25C282AD7}"/>
              </a:ext>
            </a:extLst>
          </p:cNvPr>
          <p:cNvSpPr txBox="1"/>
          <p:nvPr/>
        </p:nvSpPr>
        <p:spPr>
          <a:xfrm>
            <a:off x="6096000" y="789272"/>
            <a:ext cx="5300312" cy="1815882"/>
          </a:xfrm>
          <a:prstGeom prst="rect">
            <a:avLst/>
          </a:prstGeom>
          <a:noFill/>
        </p:spPr>
        <p:txBody>
          <a:bodyPr wrap="square" rtlCol="0">
            <a:spAutoFit/>
          </a:bodyPr>
          <a:lstStyle/>
          <a:p>
            <a:r>
              <a:rPr lang="en-US" b="1" dirty="0"/>
              <a:t>Make:</a:t>
            </a:r>
          </a:p>
          <a:p>
            <a:r>
              <a:rPr lang="en-US" b="1" dirty="0"/>
              <a:t>Unique values: </a:t>
            </a:r>
            <a:r>
              <a:rPr lang="en-US" dirty="0"/>
              <a:t>34 distinct vehicle manufacturers.</a:t>
            </a:r>
          </a:p>
          <a:p>
            <a:r>
              <a:rPr lang="en-US" b="1" dirty="0"/>
              <a:t>Most common manufacturers: </a:t>
            </a:r>
            <a:r>
              <a:rPr lang="en-US" dirty="0"/>
              <a:t>Tesla dominates the dataset with 52,078 entries, followed by Nissan (12,880) and Chevrolet (10,182).</a:t>
            </a:r>
          </a:p>
          <a:p>
            <a:r>
              <a:rPr lang="en-US" b="1" dirty="0"/>
              <a:t>Less common manufacturers: </a:t>
            </a:r>
            <a:r>
              <a:rPr lang="en-US" dirty="0"/>
              <a:t>Some manufacturers, like Bentley and TH!NK, appear rarely with only 3 entries each, indicating niche or luxury models.</a:t>
            </a:r>
            <a:endParaRPr lang="en-IN" dirty="0"/>
          </a:p>
        </p:txBody>
      </p:sp>
      <p:pic>
        <p:nvPicPr>
          <p:cNvPr id="7" name="Picture 6">
            <a:extLst>
              <a:ext uri="{FF2B5EF4-FFF2-40B4-BE49-F238E27FC236}">
                <a16:creationId xmlns:a16="http://schemas.microsoft.com/office/drawing/2014/main" id="{754496B9-5C42-AE97-F8A3-27E355202C22}"/>
              </a:ext>
            </a:extLst>
          </p:cNvPr>
          <p:cNvPicPr>
            <a:picLocks noChangeAspect="1"/>
          </p:cNvPicPr>
          <p:nvPr/>
        </p:nvPicPr>
        <p:blipFill>
          <a:blip r:embed="rId3"/>
          <a:stretch>
            <a:fillRect/>
          </a:stretch>
        </p:blipFill>
        <p:spPr>
          <a:xfrm>
            <a:off x="827940" y="3429000"/>
            <a:ext cx="4802840" cy="2397078"/>
          </a:xfrm>
          <a:prstGeom prst="rect">
            <a:avLst/>
          </a:prstGeom>
        </p:spPr>
      </p:pic>
      <p:sp>
        <p:nvSpPr>
          <p:cNvPr id="8" name="TextBox 7">
            <a:extLst>
              <a:ext uri="{FF2B5EF4-FFF2-40B4-BE49-F238E27FC236}">
                <a16:creationId xmlns:a16="http://schemas.microsoft.com/office/drawing/2014/main" id="{0C2A1F69-F088-E985-2E89-57E250435DB2}"/>
              </a:ext>
            </a:extLst>
          </p:cNvPr>
          <p:cNvSpPr txBox="1"/>
          <p:nvPr/>
        </p:nvSpPr>
        <p:spPr>
          <a:xfrm>
            <a:off x="6266046" y="3561347"/>
            <a:ext cx="5098014" cy="1600438"/>
          </a:xfrm>
          <a:prstGeom prst="rect">
            <a:avLst/>
          </a:prstGeom>
          <a:noFill/>
        </p:spPr>
        <p:txBody>
          <a:bodyPr wrap="square" rtlCol="0">
            <a:spAutoFit/>
          </a:bodyPr>
          <a:lstStyle/>
          <a:p>
            <a:r>
              <a:rPr lang="en-US" b="1" dirty="0"/>
              <a:t>Model Year:</a:t>
            </a:r>
          </a:p>
          <a:p>
            <a:r>
              <a:rPr lang="en-US" b="1" dirty="0"/>
              <a:t>Unique values: </a:t>
            </a:r>
            <a:r>
              <a:rPr lang="en-US" dirty="0"/>
              <a:t>20 model years ranging from 1997 to 2023.</a:t>
            </a:r>
          </a:p>
          <a:p>
            <a:r>
              <a:rPr lang="en-US" dirty="0"/>
              <a:t>The most frequent model years are 2022 (26,530 entries), 2021 (18,364), and 2018 (14,246), showing a bias toward more recent models.</a:t>
            </a:r>
          </a:p>
          <a:p>
            <a:r>
              <a:rPr lang="en-US" dirty="0"/>
              <a:t>The least frequent years include 1997, 1998, and 1999, each with only 1–3 entries.</a:t>
            </a:r>
            <a:endParaRPr lang="en-IN" dirty="0"/>
          </a:p>
        </p:txBody>
      </p:sp>
    </p:spTree>
    <p:extLst>
      <p:ext uri="{BB962C8B-B14F-4D97-AF65-F5344CB8AC3E}">
        <p14:creationId xmlns:p14="http://schemas.microsoft.com/office/powerpoint/2010/main" val="2101235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48248A-7A8C-E743-FE10-839BB6C3A6AB}"/>
              </a:ext>
            </a:extLst>
          </p:cNvPr>
          <p:cNvPicPr>
            <a:picLocks noChangeAspect="1"/>
          </p:cNvPicPr>
          <p:nvPr/>
        </p:nvPicPr>
        <p:blipFill>
          <a:blip r:embed="rId2"/>
          <a:stretch>
            <a:fillRect/>
          </a:stretch>
        </p:blipFill>
        <p:spPr>
          <a:xfrm>
            <a:off x="578290" y="420574"/>
            <a:ext cx="4696353" cy="2203515"/>
          </a:xfrm>
          <a:prstGeom prst="rect">
            <a:avLst/>
          </a:prstGeom>
        </p:spPr>
      </p:pic>
      <p:sp>
        <p:nvSpPr>
          <p:cNvPr id="4" name="TextBox 3">
            <a:extLst>
              <a:ext uri="{FF2B5EF4-FFF2-40B4-BE49-F238E27FC236}">
                <a16:creationId xmlns:a16="http://schemas.microsoft.com/office/drawing/2014/main" id="{9705EC9E-E159-8E98-45A5-EE847A9572EB}"/>
              </a:ext>
            </a:extLst>
          </p:cNvPr>
          <p:cNvSpPr txBox="1"/>
          <p:nvPr/>
        </p:nvSpPr>
        <p:spPr>
          <a:xfrm>
            <a:off x="5996538" y="420574"/>
            <a:ext cx="5159141" cy="1600438"/>
          </a:xfrm>
          <a:prstGeom prst="rect">
            <a:avLst/>
          </a:prstGeom>
          <a:noFill/>
        </p:spPr>
        <p:txBody>
          <a:bodyPr wrap="square" rtlCol="0">
            <a:spAutoFit/>
          </a:bodyPr>
          <a:lstStyle/>
          <a:p>
            <a:r>
              <a:rPr lang="en-US" b="1" dirty="0"/>
              <a:t>Electric Vehicle Type:</a:t>
            </a:r>
          </a:p>
          <a:p>
            <a:r>
              <a:rPr lang="en-US" b="1" dirty="0"/>
              <a:t>Unique values: </a:t>
            </a:r>
            <a:r>
              <a:rPr lang="en-US" dirty="0"/>
              <a:t>2 (Battery Electric Vehicle (BEV) and Plug-in Hybrid Electric Vehicle (PHEV)).</a:t>
            </a:r>
          </a:p>
          <a:p>
            <a:r>
              <a:rPr lang="en-US" dirty="0"/>
              <a:t>BEVs dominate the dataset with 86,044 entries, while PHEVs account for 26,590. </a:t>
            </a:r>
          </a:p>
          <a:p>
            <a:r>
              <a:rPr lang="en-US" dirty="0"/>
              <a:t>This suggests that full electric vehicles are more common than hybrids in this data.</a:t>
            </a:r>
            <a:endParaRPr lang="en-IN" dirty="0"/>
          </a:p>
        </p:txBody>
      </p:sp>
      <p:pic>
        <p:nvPicPr>
          <p:cNvPr id="6" name="Picture 5">
            <a:extLst>
              <a:ext uri="{FF2B5EF4-FFF2-40B4-BE49-F238E27FC236}">
                <a16:creationId xmlns:a16="http://schemas.microsoft.com/office/drawing/2014/main" id="{895EF308-5A23-540C-E68C-3B9FE7693033}"/>
              </a:ext>
            </a:extLst>
          </p:cNvPr>
          <p:cNvPicPr>
            <a:picLocks noChangeAspect="1"/>
          </p:cNvPicPr>
          <p:nvPr/>
        </p:nvPicPr>
        <p:blipFill>
          <a:blip r:embed="rId3"/>
          <a:stretch>
            <a:fillRect/>
          </a:stretch>
        </p:blipFill>
        <p:spPr>
          <a:xfrm>
            <a:off x="714894" y="2883355"/>
            <a:ext cx="4423144" cy="2203515"/>
          </a:xfrm>
          <a:prstGeom prst="rect">
            <a:avLst/>
          </a:prstGeom>
        </p:spPr>
      </p:pic>
      <p:sp>
        <p:nvSpPr>
          <p:cNvPr id="7" name="TextBox 6">
            <a:extLst>
              <a:ext uri="{FF2B5EF4-FFF2-40B4-BE49-F238E27FC236}">
                <a16:creationId xmlns:a16="http://schemas.microsoft.com/office/drawing/2014/main" id="{FDE7F14B-0A58-391D-EE7D-B67AB977E864}"/>
              </a:ext>
            </a:extLst>
          </p:cNvPr>
          <p:cNvSpPr txBox="1"/>
          <p:nvPr/>
        </p:nvSpPr>
        <p:spPr>
          <a:xfrm>
            <a:off x="6096000" y="2897204"/>
            <a:ext cx="5300312" cy="1815882"/>
          </a:xfrm>
          <a:prstGeom prst="rect">
            <a:avLst/>
          </a:prstGeom>
          <a:noFill/>
        </p:spPr>
        <p:txBody>
          <a:bodyPr wrap="square" rtlCol="0">
            <a:spAutoFit/>
          </a:bodyPr>
          <a:lstStyle/>
          <a:p>
            <a:r>
              <a:rPr lang="en-US" b="1" dirty="0"/>
              <a:t>City Column:</a:t>
            </a:r>
          </a:p>
          <a:p>
            <a:r>
              <a:rPr lang="en-US" b="1" dirty="0"/>
              <a:t>Unique Values: </a:t>
            </a:r>
            <a:r>
              <a:rPr lang="en-US" dirty="0"/>
              <a:t>629 cities are present in the dataset.</a:t>
            </a:r>
          </a:p>
          <a:p>
            <a:r>
              <a:rPr lang="en-US" dirty="0"/>
              <a:t>The top cities in terms of vehicle registrations are: Seattle: 20,305 vehicles, Bellevue: 5,921 vehicles, Redmond: 4,201 vehicles</a:t>
            </a:r>
          </a:p>
          <a:p>
            <a:r>
              <a:rPr lang="en-US" dirty="0"/>
              <a:t>Urban centers such as Seattle and Bellevue dominate the dataset, reinforcing the idea that the vehicle data is concentrated in and around major Washington cities.</a:t>
            </a:r>
            <a:endParaRPr lang="en-IN" dirty="0"/>
          </a:p>
        </p:txBody>
      </p:sp>
      <p:sp>
        <p:nvSpPr>
          <p:cNvPr id="8" name="TextBox 7">
            <a:extLst>
              <a:ext uri="{FF2B5EF4-FFF2-40B4-BE49-F238E27FC236}">
                <a16:creationId xmlns:a16="http://schemas.microsoft.com/office/drawing/2014/main" id="{8219D8FD-0C31-BD4B-1A61-3CA5FB08FA7A}"/>
              </a:ext>
            </a:extLst>
          </p:cNvPr>
          <p:cNvSpPr txBox="1"/>
          <p:nvPr/>
        </p:nvSpPr>
        <p:spPr>
          <a:xfrm>
            <a:off x="1039528" y="5322771"/>
            <a:ext cx="10289407" cy="307777"/>
          </a:xfrm>
          <a:prstGeom prst="rect">
            <a:avLst/>
          </a:prstGeom>
          <a:noFill/>
        </p:spPr>
        <p:txBody>
          <a:bodyPr wrap="square" rtlCol="0">
            <a:spAutoFit/>
          </a:bodyPr>
          <a:lstStyle/>
          <a:p>
            <a:r>
              <a:rPr lang="en-IN" dirty="0"/>
              <a:t>Please note that since I cannot keep all my analysis in ppt, you can go through my repository link which is given on the 2</a:t>
            </a:r>
            <a:r>
              <a:rPr lang="en-IN" baseline="30000" dirty="0"/>
              <a:t>nd</a:t>
            </a:r>
            <a:r>
              <a:rPr lang="en-IN" dirty="0"/>
              <a:t> slide.</a:t>
            </a:r>
          </a:p>
        </p:txBody>
      </p:sp>
    </p:spTree>
    <p:extLst>
      <p:ext uri="{BB962C8B-B14F-4D97-AF65-F5344CB8AC3E}">
        <p14:creationId xmlns:p14="http://schemas.microsoft.com/office/powerpoint/2010/main" val="1928297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D026A-E764-4653-9B92-0BCE788B17C9}"/>
              </a:ext>
            </a:extLst>
          </p:cNvPr>
          <p:cNvSpPr>
            <a:spLocks noGrp="1"/>
          </p:cNvSpPr>
          <p:nvPr>
            <p:ph type="title"/>
          </p:nvPr>
        </p:nvSpPr>
        <p:spPr>
          <a:xfrm>
            <a:off x="693821" y="0"/>
            <a:ext cx="7920790" cy="970218"/>
          </a:xfrm>
        </p:spPr>
        <p:txBody>
          <a:bodyPr>
            <a:normAutofit/>
          </a:bodyPr>
          <a:lstStyle/>
          <a:p>
            <a:r>
              <a:rPr lang="en-IN" sz="3200" dirty="0">
                <a:solidFill>
                  <a:srgbClr val="FF0000"/>
                </a:solidFill>
              </a:rPr>
              <a:t>Bivariate Analysis</a:t>
            </a:r>
          </a:p>
        </p:txBody>
      </p:sp>
      <p:pic>
        <p:nvPicPr>
          <p:cNvPr id="6" name="Picture 5">
            <a:extLst>
              <a:ext uri="{FF2B5EF4-FFF2-40B4-BE49-F238E27FC236}">
                <a16:creationId xmlns:a16="http://schemas.microsoft.com/office/drawing/2014/main" id="{E5208C10-4889-6332-3F9D-3217D19975EA}"/>
              </a:ext>
            </a:extLst>
          </p:cNvPr>
          <p:cNvPicPr>
            <a:picLocks noChangeAspect="1"/>
          </p:cNvPicPr>
          <p:nvPr/>
        </p:nvPicPr>
        <p:blipFill>
          <a:blip r:embed="rId2"/>
          <a:stretch>
            <a:fillRect/>
          </a:stretch>
        </p:blipFill>
        <p:spPr>
          <a:xfrm>
            <a:off x="542195" y="907664"/>
            <a:ext cx="4499067" cy="2583891"/>
          </a:xfrm>
          <a:prstGeom prst="rect">
            <a:avLst/>
          </a:prstGeom>
        </p:spPr>
      </p:pic>
      <p:sp>
        <p:nvSpPr>
          <p:cNvPr id="7" name="TextBox 6">
            <a:extLst>
              <a:ext uri="{FF2B5EF4-FFF2-40B4-BE49-F238E27FC236}">
                <a16:creationId xmlns:a16="http://schemas.microsoft.com/office/drawing/2014/main" id="{B44CE889-7CFA-AC68-6EC3-EEE65B0A40F6}"/>
              </a:ext>
            </a:extLst>
          </p:cNvPr>
          <p:cNvSpPr txBox="1"/>
          <p:nvPr/>
        </p:nvSpPr>
        <p:spPr>
          <a:xfrm>
            <a:off x="5438274" y="966787"/>
            <a:ext cx="6494676" cy="2677656"/>
          </a:xfrm>
          <a:prstGeom prst="rect">
            <a:avLst/>
          </a:prstGeom>
          <a:noFill/>
        </p:spPr>
        <p:txBody>
          <a:bodyPr wrap="square" rtlCol="0">
            <a:spAutoFit/>
          </a:bodyPr>
          <a:lstStyle/>
          <a:p>
            <a:r>
              <a:rPr lang="en-US" b="1" dirty="0"/>
              <a:t>Electric Vehicle Type vs Model Year:</a:t>
            </a:r>
          </a:p>
          <a:p>
            <a:r>
              <a:rPr lang="en-US" dirty="0"/>
              <a:t>There's a clear increase in both Battery Electric Vehicles (BEVs) and Plug-in Hybrid Electric Vehicles (PHEVs) over time, with a significant spike in recent years.</a:t>
            </a:r>
          </a:p>
          <a:p>
            <a:r>
              <a:rPr lang="en-US" dirty="0"/>
              <a:t>BEVs consistently outnumber PHEVs across all model years, indicating a stronger market preference for fully Electric vehicles.</a:t>
            </a:r>
          </a:p>
          <a:p>
            <a:r>
              <a:rPr lang="en-US" dirty="0"/>
              <a:t>The most dramatic increase in both BEVs and PHEVs occurs in the most recent years (2020-2022), suggesting rapid market adoption.</a:t>
            </a:r>
          </a:p>
          <a:p>
            <a:r>
              <a:rPr lang="en-US" dirty="0"/>
              <a:t>There are some electric vehicles dating back to the late 1990s and early 2000s, but in much smaller numbers compared to recent years.</a:t>
            </a:r>
          </a:p>
          <a:p>
            <a:r>
              <a:rPr lang="en-US" dirty="0"/>
              <a:t>While not as pronounced as BEVs, PHEVs also show a steady increase over time, particularly from 2012 onwards.</a:t>
            </a:r>
            <a:endParaRPr lang="en-IN" dirty="0"/>
          </a:p>
        </p:txBody>
      </p:sp>
      <p:pic>
        <p:nvPicPr>
          <p:cNvPr id="9" name="Picture 8">
            <a:extLst>
              <a:ext uri="{FF2B5EF4-FFF2-40B4-BE49-F238E27FC236}">
                <a16:creationId xmlns:a16="http://schemas.microsoft.com/office/drawing/2014/main" id="{41CCE326-0EB3-EF41-5CDD-3E4F8989DE44}"/>
              </a:ext>
            </a:extLst>
          </p:cNvPr>
          <p:cNvPicPr>
            <a:picLocks noChangeAspect="1"/>
          </p:cNvPicPr>
          <p:nvPr/>
        </p:nvPicPr>
        <p:blipFill>
          <a:blip r:embed="rId3"/>
          <a:stretch>
            <a:fillRect/>
          </a:stretch>
        </p:blipFill>
        <p:spPr>
          <a:xfrm>
            <a:off x="542195" y="3726110"/>
            <a:ext cx="4499067" cy="2587989"/>
          </a:xfrm>
          <a:prstGeom prst="rect">
            <a:avLst/>
          </a:prstGeom>
        </p:spPr>
      </p:pic>
      <p:sp>
        <p:nvSpPr>
          <p:cNvPr id="10" name="TextBox 9">
            <a:extLst>
              <a:ext uri="{FF2B5EF4-FFF2-40B4-BE49-F238E27FC236}">
                <a16:creationId xmlns:a16="http://schemas.microsoft.com/office/drawing/2014/main" id="{3CC709A7-08C4-14B2-8BAB-BDE178673F49}"/>
              </a:ext>
            </a:extLst>
          </p:cNvPr>
          <p:cNvSpPr txBox="1"/>
          <p:nvPr/>
        </p:nvSpPr>
        <p:spPr>
          <a:xfrm>
            <a:off x="5438274" y="3888606"/>
            <a:ext cx="6211531" cy="2246769"/>
          </a:xfrm>
          <a:prstGeom prst="rect">
            <a:avLst/>
          </a:prstGeom>
          <a:noFill/>
        </p:spPr>
        <p:txBody>
          <a:bodyPr wrap="square" rtlCol="0">
            <a:spAutoFit/>
          </a:bodyPr>
          <a:lstStyle/>
          <a:p>
            <a:r>
              <a:rPr lang="en-US" b="1" dirty="0"/>
              <a:t>CAFV Eligibility Trend Over Model Years:</a:t>
            </a:r>
          </a:p>
          <a:p>
            <a:r>
              <a:rPr lang="en-US" dirty="0"/>
              <a:t>The number of Clean Alternative Fuel Vehicle (CAFV) eligible models increased significantly from 2014 to 2019.</a:t>
            </a:r>
          </a:p>
          <a:p>
            <a:r>
              <a:rPr lang="en-US" dirty="0"/>
              <a:t>There's a sharp drop in known CAFV eligible vehicles after 2020, replaced by a large number of vehicles with unknown eligibility.</a:t>
            </a:r>
          </a:p>
          <a:p>
            <a:r>
              <a:rPr lang="en-US" dirty="0"/>
              <a:t>The number of vehicles not eligible due to low battery range has remained relatively low and stable since 2014.The peak of CAFV eligible vehicles was around 2018-2019.</a:t>
            </a:r>
          </a:p>
          <a:p>
            <a:r>
              <a:rPr lang="en-US" dirty="0"/>
              <a:t>The data for 2021-2023 shows a mix of eligible, unknown, and ineligible vehicles, suggesting ongoing changes in the EV market or eligibility criteria.</a:t>
            </a:r>
            <a:endParaRPr lang="en-IN" dirty="0"/>
          </a:p>
        </p:txBody>
      </p:sp>
    </p:spTree>
    <p:extLst>
      <p:ext uri="{BB962C8B-B14F-4D97-AF65-F5344CB8AC3E}">
        <p14:creationId xmlns:p14="http://schemas.microsoft.com/office/powerpoint/2010/main" val="876087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ACB6EB-9402-296E-C430-8823A6F02591}"/>
              </a:ext>
            </a:extLst>
          </p:cNvPr>
          <p:cNvPicPr>
            <a:picLocks noChangeAspect="1"/>
          </p:cNvPicPr>
          <p:nvPr/>
        </p:nvPicPr>
        <p:blipFill>
          <a:blip r:embed="rId2"/>
          <a:stretch>
            <a:fillRect/>
          </a:stretch>
        </p:blipFill>
        <p:spPr>
          <a:xfrm>
            <a:off x="269081" y="255956"/>
            <a:ext cx="5826919" cy="2814504"/>
          </a:xfrm>
          <a:prstGeom prst="rect">
            <a:avLst/>
          </a:prstGeom>
        </p:spPr>
      </p:pic>
      <p:sp>
        <p:nvSpPr>
          <p:cNvPr id="4" name="TextBox 3">
            <a:extLst>
              <a:ext uri="{FF2B5EF4-FFF2-40B4-BE49-F238E27FC236}">
                <a16:creationId xmlns:a16="http://schemas.microsoft.com/office/drawing/2014/main" id="{08FE1796-68CA-0BA7-2D35-E88FCB387C39}"/>
              </a:ext>
            </a:extLst>
          </p:cNvPr>
          <p:cNvSpPr txBox="1"/>
          <p:nvPr/>
        </p:nvSpPr>
        <p:spPr>
          <a:xfrm>
            <a:off x="6256421" y="75149"/>
            <a:ext cx="5666498" cy="2462213"/>
          </a:xfrm>
          <a:prstGeom prst="rect">
            <a:avLst/>
          </a:prstGeom>
          <a:noFill/>
        </p:spPr>
        <p:txBody>
          <a:bodyPr wrap="square" rtlCol="0">
            <a:spAutoFit/>
          </a:bodyPr>
          <a:lstStyle/>
          <a:p>
            <a:r>
              <a:rPr lang="en-US" b="1" dirty="0"/>
              <a:t>Count of Model Year by Make (Stacked):</a:t>
            </a:r>
          </a:p>
          <a:p>
            <a:r>
              <a:rPr lang="en-US" dirty="0"/>
              <a:t>Tesla dominates in terms of the number of models across various years, especially in more recent years.</a:t>
            </a:r>
          </a:p>
          <a:p>
            <a:r>
              <a:rPr lang="en-US" dirty="0"/>
              <a:t>Traditional automakers like Ford, Chevrolet, and Nissan have been consistently producing EVs over a longer period.</a:t>
            </a:r>
          </a:p>
          <a:p>
            <a:r>
              <a:rPr lang="en-US" dirty="0"/>
              <a:t>Many manufacturers started significant EV production around 2018-2019, as indicated by the increased stacking for those years.</a:t>
            </a:r>
          </a:p>
          <a:p>
            <a:r>
              <a:rPr lang="en-US" dirty="0"/>
              <a:t>Luxury brands like BMW, Mercedes-Benz, and Audi have a smaller but consistent presence across </a:t>
            </a:r>
            <a:r>
              <a:rPr lang="en-US" dirty="0" err="1"/>
              <a:t>years.Some</a:t>
            </a:r>
            <a:r>
              <a:rPr lang="en-US" dirty="0"/>
              <a:t> brands (e.g., Rivian, Lucid, JEEP) only appear in the most recent years, representing new entrants to the EV market.</a:t>
            </a:r>
            <a:endParaRPr lang="en-IN" dirty="0"/>
          </a:p>
        </p:txBody>
      </p:sp>
      <p:pic>
        <p:nvPicPr>
          <p:cNvPr id="8" name="Picture 7">
            <a:extLst>
              <a:ext uri="{FF2B5EF4-FFF2-40B4-BE49-F238E27FC236}">
                <a16:creationId xmlns:a16="http://schemas.microsoft.com/office/drawing/2014/main" id="{8AE628CB-7A88-621D-D0B9-BDC61583F2BC}"/>
              </a:ext>
            </a:extLst>
          </p:cNvPr>
          <p:cNvPicPr>
            <a:picLocks noChangeAspect="1"/>
          </p:cNvPicPr>
          <p:nvPr/>
        </p:nvPicPr>
        <p:blipFill>
          <a:blip r:embed="rId3"/>
          <a:stretch>
            <a:fillRect/>
          </a:stretch>
        </p:blipFill>
        <p:spPr>
          <a:xfrm>
            <a:off x="269081" y="3340307"/>
            <a:ext cx="5649781" cy="2814505"/>
          </a:xfrm>
          <a:prstGeom prst="rect">
            <a:avLst/>
          </a:prstGeom>
        </p:spPr>
      </p:pic>
      <p:sp>
        <p:nvSpPr>
          <p:cNvPr id="9" name="TextBox 8">
            <a:extLst>
              <a:ext uri="{FF2B5EF4-FFF2-40B4-BE49-F238E27FC236}">
                <a16:creationId xmlns:a16="http://schemas.microsoft.com/office/drawing/2014/main" id="{C38171C0-E4D7-EBA7-C12D-B1757B384E2B}"/>
              </a:ext>
            </a:extLst>
          </p:cNvPr>
          <p:cNvSpPr txBox="1"/>
          <p:nvPr/>
        </p:nvSpPr>
        <p:spPr>
          <a:xfrm>
            <a:off x="6256421" y="2673474"/>
            <a:ext cx="5496025" cy="3539430"/>
          </a:xfrm>
          <a:prstGeom prst="rect">
            <a:avLst/>
          </a:prstGeom>
          <a:noFill/>
        </p:spPr>
        <p:txBody>
          <a:bodyPr wrap="square" rtlCol="0">
            <a:spAutoFit/>
          </a:bodyPr>
          <a:lstStyle/>
          <a:p>
            <a:r>
              <a:rPr lang="en-IN" b="1" dirty="0"/>
              <a:t>CAFV Eligibility by Make (Stacked):</a:t>
            </a:r>
          </a:p>
          <a:p>
            <a:r>
              <a:rPr lang="en-IN" dirty="0"/>
              <a:t>Tesla has the highest number of CAFV eligible vehicles by a large margin.</a:t>
            </a:r>
          </a:p>
          <a:p>
            <a:r>
              <a:rPr lang="en-IN" dirty="0"/>
              <a:t>Many manufacturers (e.g. Audi, BMW, Ford, Kia, etc) have a mix of eligible, unknown, and ineligible vehicles.</a:t>
            </a:r>
          </a:p>
          <a:p>
            <a:r>
              <a:rPr lang="en-IN" dirty="0"/>
              <a:t>Some manufacturers (e.g., BMW, Nissan, Chevrolet) have a significant number of CAFV eligible vehicles.</a:t>
            </a:r>
          </a:p>
          <a:p>
            <a:r>
              <a:rPr lang="en-IN" dirty="0"/>
              <a:t>Newer entrants like CHRYSLER, Rivian and FIAT have mostly eligible vehicles, though in smaller numbers.</a:t>
            </a:r>
          </a:p>
          <a:p>
            <a:r>
              <a:rPr lang="en-IN" dirty="0"/>
              <a:t>Some manufacturers (e.g., Toyota, JEEP,FORD) have more vehicles with unknown eligibility or ineligibility due to low battery range.</a:t>
            </a:r>
          </a:p>
          <a:p>
            <a:r>
              <a:rPr lang="en-IN" dirty="0"/>
              <a:t>Some brands (e.g., Porsche, Audi) have a higher proportion of vehicles with unknown eligibility.</a:t>
            </a:r>
          </a:p>
          <a:p>
            <a:r>
              <a:rPr lang="en-IN" dirty="0"/>
              <a:t>A few manufacturers (e.g., Fiat, Smart) have a notable number of vehicles not eligible due to low battery range.</a:t>
            </a:r>
          </a:p>
        </p:txBody>
      </p:sp>
    </p:spTree>
    <p:extLst>
      <p:ext uri="{BB962C8B-B14F-4D97-AF65-F5344CB8AC3E}">
        <p14:creationId xmlns:p14="http://schemas.microsoft.com/office/powerpoint/2010/main" val="1154405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93F42F5-86D3-683B-36B0-CBA47C6D0C42}"/>
              </a:ext>
            </a:extLst>
          </p:cNvPr>
          <p:cNvPicPr>
            <a:picLocks noChangeAspect="1"/>
          </p:cNvPicPr>
          <p:nvPr/>
        </p:nvPicPr>
        <p:blipFill>
          <a:blip r:embed="rId2"/>
          <a:stretch>
            <a:fillRect/>
          </a:stretch>
        </p:blipFill>
        <p:spPr>
          <a:xfrm>
            <a:off x="506932" y="165730"/>
            <a:ext cx="4758088" cy="2578583"/>
          </a:xfrm>
          <a:prstGeom prst="rect">
            <a:avLst/>
          </a:prstGeom>
        </p:spPr>
      </p:pic>
      <p:sp>
        <p:nvSpPr>
          <p:cNvPr id="4" name="TextBox 3">
            <a:extLst>
              <a:ext uri="{FF2B5EF4-FFF2-40B4-BE49-F238E27FC236}">
                <a16:creationId xmlns:a16="http://schemas.microsoft.com/office/drawing/2014/main" id="{F0179C44-5232-B9D2-85CB-5F457BA9BB59}"/>
              </a:ext>
            </a:extLst>
          </p:cNvPr>
          <p:cNvSpPr txBox="1"/>
          <p:nvPr/>
        </p:nvSpPr>
        <p:spPr>
          <a:xfrm>
            <a:off x="6018998" y="119704"/>
            <a:ext cx="5457524" cy="2677656"/>
          </a:xfrm>
          <a:prstGeom prst="rect">
            <a:avLst/>
          </a:prstGeom>
          <a:noFill/>
        </p:spPr>
        <p:txBody>
          <a:bodyPr wrap="square" rtlCol="0">
            <a:spAutoFit/>
          </a:bodyPr>
          <a:lstStyle/>
          <a:p>
            <a:r>
              <a:rPr lang="en-US" b="1" dirty="0"/>
              <a:t>Electric Range by Model Year:</a:t>
            </a:r>
          </a:p>
          <a:p>
            <a:r>
              <a:rPr lang="en-US" dirty="0"/>
              <a:t>There's a clear trend of increasing electric range over time, with significant improvements starting around 2016.</a:t>
            </a:r>
          </a:p>
          <a:p>
            <a:r>
              <a:rPr lang="en-US" dirty="0"/>
              <a:t>The median range has increased substantially from about 100 miles in 2015 to over 250 miles by 2023.</a:t>
            </a:r>
          </a:p>
          <a:p>
            <a:r>
              <a:rPr lang="en-US" dirty="0"/>
              <a:t>The variation in range has also increased in recent years, likely due to a wider variety of EV models (from economy to luxury).</a:t>
            </a:r>
          </a:p>
          <a:p>
            <a:r>
              <a:rPr lang="en-US" dirty="0"/>
              <a:t>There are some high-range outliers in earlier years (2008-2014), possibly representing early long-range EV prototypes or limited production models.</a:t>
            </a:r>
          </a:p>
          <a:p>
            <a:r>
              <a:rPr lang="en-US" dirty="0"/>
              <a:t>The most recent years (2021-2023) show the highest median ranges and largest range variations.</a:t>
            </a:r>
            <a:endParaRPr lang="en-IN" dirty="0"/>
          </a:p>
        </p:txBody>
      </p:sp>
      <p:pic>
        <p:nvPicPr>
          <p:cNvPr id="6" name="Picture 5">
            <a:extLst>
              <a:ext uri="{FF2B5EF4-FFF2-40B4-BE49-F238E27FC236}">
                <a16:creationId xmlns:a16="http://schemas.microsoft.com/office/drawing/2014/main" id="{A388BBB4-721D-CD7C-BD46-83C7C5B424CF}"/>
              </a:ext>
            </a:extLst>
          </p:cNvPr>
          <p:cNvPicPr>
            <a:picLocks noChangeAspect="1"/>
          </p:cNvPicPr>
          <p:nvPr/>
        </p:nvPicPr>
        <p:blipFill>
          <a:blip r:embed="rId3"/>
          <a:stretch>
            <a:fillRect/>
          </a:stretch>
        </p:blipFill>
        <p:spPr>
          <a:xfrm>
            <a:off x="359082" y="3005488"/>
            <a:ext cx="5053788" cy="2462456"/>
          </a:xfrm>
          <a:prstGeom prst="rect">
            <a:avLst/>
          </a:prstGeom>
        </p:spPr>
      </p:pic>
      <p:sp>
        <p:nvSpPr>
          <p:cNvPr id="7" name="TextBox 6">
            <a:extLst>
              <a:ext uri="{FF2B5EF4-FFF2-40B4-BE49-F238E27FC236}">
                <a16:creationId xmlns:a16="http://schemas.microsoft.com/office/drawing/2014/main" id="{DAF9127D-D309-0B4D-72AE-E91890A9082F}"/>
              </a:ext>
            </a:extLst>
          </p:cNvPr>
          <p:cNvSpPr txBox="1"/>
          <p:nvPr/>
        </p:nvSpPr>
        <p:spPr>
          <a:xfrm>
            <a:off x="5890661" y="3005488"/>
            <a:ext cx="6015790" cy="2677656"/>
          </a:xfrm>
          <a:prstGeom prst="rect">
            <a:avLst/>
          </a:prstGeom>
          <a:noFill/>
        </p:spPr>
        <p:txBody>
          <a:bodyPr wrap="square" rtlCol="0">
            <a:spAutoFit/>
          </a:bodyPr>
          <a:lstStyle/>
          <a:p>
            <a:r>
              <a:rPr lang="en-US" b="1" dirty="0"/>
              <a:t>Electric Range by Make:</a:t>
            </a:r>
          </a:p>
          <a:p>
            <a:r>
              <a:rPr lang="en-US" dirty="0"/>
              <a:t>Tesla stands out with the highest median and maximum electric range, reaching up to about 350 miles.</a:t>
            </a:r>
          </a:p>
          <a:p>
            <a:r>
              <a:rPr lang="en-US" dirty="0"/>
              <a:t>There's significant variation in range across manufacturers, with some like Tesla, Chevrolet and Ford showing wide ranges, while others like BMW, KIA and Audi have more compact distributions.</a:t>
            </a:r>
          </a:p>
          <a:p>
            <a:r>
              <a:rPr lang="en-US" dirty="0"/>
              <a:t>Many manufacturers have outliers above their main range distribution, suggesting premium or long-range models.</a:t>
            </a:r>
          </a:p>
          <a:p>
            <a:r>
              <a:rPr lang="en-US" dirty="0"/>
              <a:t>Some manufacturers (e.g., Toyota, Nissan) have relatively low median ranges but with occasional high-range outliers.</a:t>
            </a:r>
          </a:p>
          <a:p>
            <a:r>
              <a:rPr lang="en-US" dirty="0"/>
              <a:t>Newer entrants like Lucid and Rivian show competitive ranges, often exceeding established manufacturers.</a:t>
            </a:r>
            <a:endParaRPr lang="en-IN" dirty="0"/>
          </a:p>
        </p:txBody>
      </p:sp>
      <p:sp>
        <p:nvSpPr>
          <p:cNvPr id="8" name="TextBox 7">
            <a:extLst>
              <a:ext uri="{FF2B5EF4-FFF2-40B4-BE49-F238E27FC236}">
                <a16:creationId xmlns:a16="http://schemas.microsoft.com/office/drawing/2014/main" id="{F9417998-B05D-7262-F254-6E3FA0BE2B2B}"/>
              </a:ext>
            </a:extLst>
          </p:cNvPr>
          <p:cNvSpPr txBox="1"/>
          <p:nvPr/>
        </p:nvSpPr>
        <p:spPr>
          <a:xfrm>
            <a:off x="526184" y="5951972"/>
            <a:ext cx="11126804" cy="307777"/>
          </a:xfrm>
          <a:prstGeom prst="rect">
            <a:avLst/>
          </a:prstGeom>
          <a:noFill/>
        </p:spPr>
        <p:txBody>
          <a:bodyPr wrap="square" rtlCol="0">
            <a:spAutoFit/>
          </a:bodyPr>
          <a:lstStyle/>
          <a:p>
            <a:r>
              <a:rPr lang="en-IN" dirty="0"/>
              <a:t>Please note that since I cannot keep all my analysis in ppt, you can go through my repository link which is given on the 2</a:t>
            </a:r>
            <a:r>
              <a:rPr lang="en-IN" baseline="30000" dirty="0"/>
              <a:t>nd</a:t>
            </a:r>
            <a:r>
              <a:rPr lang="en-IN" dirty="0"/>
              <a:t> slide.</a:t>
            </a:r>
          </a:p>
        </p:txBody>
      </p:sp>
    </p:spTree>
    <p:extLst>
      <p:ext uri="{BB962C8B-B14F-4D97-AF65-F5344CB8AC3E}">
        <p14:creationId xmlns:p14="http://schemas.microsoft.com/office/powerpoint/2010/main" val="38475455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5B409-2D76-F574-787F-B32CDC0AEC26}"/>
              </a:ext>
            </a:extLst>
          </p:cNvPr>
          <p:cNvSpPr>
            <a:spLocks noGrp="1"/>
          </p:cNvSpPr>
          <p:nvPr>
            <p:ph type="title"/>
          </p:nvPr>
        </p:nvSpPr>
        <p:spPr>
          <a:xfrm>
            <a:off x="838200" y="198030"/>
            <a:ext cx="10515600" cy="1088290"/>
          </a:xfrm>
        </p:spPr>
        <p:txBody>
          <a:bodyPr>
            <a:normAutofit/>
          </a:bodyPr>
          <a:lstStyle/>
          <a:p>
            <a:r>
              <a:rPr lang="en-IN" sz="3200" dirty="0">
                <a:solidFill>
                  <a:srgbClr val="FF0000"/>
                </a:solidFill>
              </a:rPr>
              <a:t>Task Questions</a:t>
            </a:r>
          </a:p>
        </p:txBody>
      </p:sp>
      <p:sp>
        <p:nvSpPr>
          <p:cNvPr id="4" name="TextBox 3">
            <a:extLst>
              <a:ext uri="{FF2B5EF4-FFF2-40B4-BE49-F238E27FC236}">
                <a16:creationId xmlns:a16="http://schemas.microsoft.com/office/drawing/2014/main" id="{17BDA008-9CA8-1A87-1415-3CB400B768BE}"/>
              </a:ext>
            </a:extLst>
          </p:cNvPr>
          <p:cNvSpPr txBox="1"/>
          <p:nvPr/>
        </p:nvSpPr>
        <p:spPr>
          <a:xfrm>
            <a:off x="991402" y="1342267"/>
            <a:ext cx="9634889" cy="523220"/>
          </a:xfrm>
          <a:prstGeom prst="rect">
            <a:avLst/>
          </a:prstGeom>
          <a:noFill/>
        </p:spPr>
        <p:txBody>
          <a:bodyPr wrap="square" rtlCol="0">
            <a:spAutoFit/>
          </a:bodyPr>
          <a:lstStyle/>
          <a:p>
            <a:r>
              <a:rPr lang="en-US" b="1" dirty="0"/>
              <a:t>Q. Create a Choropleths using </a:t>
            </a:r>
            <a:r>
              <a:rPr lang="en-US" b="1" dirty="0" err="1"/>
              <a:t>plotly.express</a:t>
            </a:r>
            <a:r>
              <a:rPr lang="en-US" b="1" dirty="0"/>
              <a:t> to display the number of EV vehicles based on location. (Country, States, County, City, Zip Codes)</a:t>
            </a:r>
            <a:endParaRPr lang="en-IN" b="1" dirty="0"/>
          </a:p>
        </p:txBody>
      </p:sp>
      <p:pic>
        <p:nvPicPr>
          <p:cNvPr id="7" name="Picture 6">
            <a:extLst>
              <a:ext uri="{FF2B5EF4-FFF2-40B4-BE49-F238E27FC236}">
                <a16:creationId xmlns:a16="http://schemas.microsoft.com/office/drawing/2014/main" id="{23646C29-BA63-9FE9-6763-628F79E1FA6C}"/>
              </a:ext>
            </a:extLst>
          </p:cNvPr>
          <p:cNvPicPr>
            <a:picLocks noChangeAspect="1"/>
          </p:cNvPicPr>
          <p:nvPr/>
        </p:nvPicPr>
        <p:blipFill>
          <a:blip r:embed="rId2"/>
          <a:stretch>
            <a:fillRect/>
          </a:stretch>
        </p:blipFill>
        <p:spPr>
          <a:xfrm>
            <a:off x="1581538" y="2153305"/>
            <a:ext cx="7373379" cy="2591162"/>
          </a:xfrm>
          <a:prstGeom prst="rect">
            <a:avLst/>
          </a:prstGeom>
        </p:spPr>
      </p:pic>
      <p:sp>
        <p:nvSpPr>
          <p:cNvPr id="8" name="TextBox 7">
            <a:extLst>
              <a:ext uri="{FF2B5EF4-FFF2-40B4-BE49-F238E27FC236}">
                <a16:creationId xmlns:a16="http://schemas.microsoft.com/office/drawing/2014/main" id="{D2DB3CCD-738D-67A3-F910-A88CA1E79BE0}"/>
              </a:ext>
            </a:extLst>
          </p:cNvPr>
          <p:cNvSpPr txBox="1"/>
          <p:nvPr/>
        </p:nvSpPr>
        <p:spPr>
          <a:xfrm>
            <a:off x="1581538" y="5293895"/>
            <a:ext cx="8823371" cy="523220"/>
          </a:xfrm>
          <a:prstGeom prst="rect">
            <a:avLst/>
          </a:prstGeom>
          <a:noFill/>
        </p:spPr>
        <p:txBody>
          <a:bodyPr wrap="square" rtlCol="0">
            <a:spAutoFit/>
          </a:bodyPr>
          <a:lstStyle/>
          <a:p>
            <a:r>
              <a:rPr lang="en-IN" dirty="0"/>
              <a:t>Please note I cannot directly add Choropleth plots in ppt , am uploading the snapshot of the plot I got as output, you can always go to my </a:t>
            </a:r>
            <a:r>
              <a:rPr lang="en-IN" dirty="0" err="1"/>
              <a:t>github</a:t>
            </a:r>
            <a:r>
              <a:rPr lang="en-IN" dirty="0"/>
              <a:t> repository to see the visualization.</a:t>
            </a:r>
          </a:p>
        </p:txBody>
      </p:sp>
    </p:spTree>
    <p:extLst>
      <p:ext uri="{BB962C8B-B14F-4D97-AF65-F5344CB8AC3E}">
        <p14:creationId xmlns:p14="http://schemas.microsoft.com/office/powerpoint/2010/main" val="32511428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4A9BE0-3548-380B-565C-C1B8A8052D25}"/>
              </a:ext>
            </a:extLst>
          </p:cNvPr>
          <p:cNvPicPr>
            <a:picLocks noChangeAspect="1"/>
          </p:cNvPicPr>
          <p:nvPr/>
        </p:nvPicPr>
        <p:blipFill>
          <a:blip r:embed="rId2"/>
          <a:stretch>
            <a:fillRect/>
          </a:stretch>
        </p:blipFill>
        <p:spPr>
          <a:xfrm>
            <a:off x="454844" y="396901"/>
            <a:ext cx="5009738" cy="2538804"/>
          </a:xfrm>
          <a:prstGeom prst="rect">
            <a:avLst/>
          </a:prstGeom>
        </p:spPr>
      </p:pic>
      <p:pic>
        <p:nvPicPr>
          <p:cNvPr id="5" name="Picture 4">
            <a:extLst>
              <a:ext uri="{FF2B5EF4-FFF2-40B4-BE49-F238E27FC236}">
                <a16:creationId xmlns:a16="http://schemas.microsoft.com/office/drawing/2014/main" id="{A33B3AEA-5317-9D46-2873-51257EE9795D}"/>
              </a:ext>
            </a:extLst>
          </p:cNvPr>
          <p:cNvPicPr>
            <a:picLocks noChangeAspect="1"/>
          </p:cNvPicPr>
          <p:nvPr/>
        </p:nvPicPr>
        <p:blipFill>
          <a:blip r:embed="rId3"/>
          <a:stretch>
            <a:fillRect/>
          </a:stretch>
        </p:blipFill>
        <p:spPr>
          <a:xfrm>
            <a:off x="5909080" y="396901"/>
            <a:ext cx="5828076" cy="2761140"/>
          </a:xfrm>
          <a:prstGeom prst="rect">
            <a:avLst/>
          </a:prstGeom>
        </p:spPr>
      </p:pic>
      <p:pic>
        <p:nvPicPr>
          <p:cNvPr id="7" name="Picture 6">
            <a:extLst>
              <a:ext uri="{FF2B5EF4-FFF2-40B4-BE49-F238E27FC236}">
                <a16:creationId xmlns:a16="http://schemas.microsoft.com/office/drawing/2014/main" id="{17C3AE93-B96A-9907-DA9E-2224B52A0A5F}"/>
              </a:ext>
            </a:extLst>
          </p:cNvPr>
          <p:cNvPicPr>
            <a:picLocks noChangeAspect="1"/>
          </p:cNvPicPr>
          <p:nvPr/>
        </p:nvPicPr>
        <p:blipFill>
          <a:blip r:embed="rId4"/>
          <a:stretch>
            <a:fillRect/>
          </a:stretch>
        </p:blipFill>
        <p:spPr>
          <a:xfrm>
            <a:off x="454844" y="3429000"/>
            <a:ext cx="5009738" cy="2929812"/>
          </a:xfrm>
          <a:prstGeom prst="rect">
            <a:avLst/>
          </a:prstGeom>
        </p:spPr>
      </p:pic>
      <p:pic>
        <p:nvPicPr>
          <p:cNvPr id="11" name="Picture 10">
            <a:extLst>
              <a:ext uri="{FF2B5EF4-FFF2-40B4-BE49-F238E27FC236}">
                <a16:creationId xmlns:a16="http://schemas.microsoft.com/office/drawing/2014/main" id="{028EFC7D-72D8-49D1-F23B-59CDC5EF6438}"/>
              </a:ext>
            </a:extLst>
          </p:cNvPr>
          <p:cNvPicPr>
            <a:picLocks noChangeAspect="1"/>
          </p:cNvPicPr>
          <p:nvPr/>
        </p:nvPicPr>
        <p:blipFill>
          <a:blip r:embed="rId5"/>
          <a:stretch>
            <a:fillRect/>
          </a:stretch>
        </p:blipFill>
        <p:spPr>
          <a:xfrm>
            <a:off x="5909080" y="3479533"/>
            <a:ext cx="5828076" cy="2658853"/>
          </a:xfrm>
          <a:prstGeom prst="rect">
            <a:avLst/>
          </a:prstGeom>
        </p:spPr>
      </p:pic>
    </p:spTree>
    <p:extLst>
      <p:ext uri="{BB962C8B-B14F-4D97-AF65-F5344CB8AC3E}">
        <p14:creationId xmlns:p14="http://schemas.microsoft.com/office/powerpoint/2010/main" val="24223075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CAAD3B-9172-DE64-F073-2A050F23EBE4}"/>
              </a:ext>
            </a:extLst>
          </p:cNvPr>
          <p:cNvSpPr>
            <a:spLocks noGrp="1"/>
          </p:cNvSpPr>
          <p:nvPr>
            <p:ph type="title"/>
          </p:nvPr>
        </p:nvSpPr>
        <p:spPr>
          <a:xfrm>
            <a:off x="693821" y="110876"/>
            <a:ext cx="7660907" cy="940882"/>
          </a:xfrm>
        </p:spPr>
        <p:txBody>
          <a:bodyPr>
            <a:normAutofit fontScale="90000"/>
          </a:bodyPr>
          <a:lstStyle/>
          <a:p>
            <a:r>
              <a:rPr lang="en-IN" sz="3200" b="1" dirty="0">
                <a:solidFill>
                  <a:srgbClr val="FF0000"/>
                </a:solidFill>
              </a:rPr>
              <a:t> Q2. Racing Bar Plots (using </a:t>
            </a:r>
            <a:r>
              <a:rPr lang="en-IN" sz="3200" b="1" dirty="0" err="1">
                <a:solidFill>
                  <a:srgbClr val="FF0000"/>
                </a:solidFill>
              </a:rPr>
              <a:t>Bar_Chart_Race</a:t>
            </a:r>
            <a:r>
              <a:rPr lang="en-IN" sz="3200" b="1" dirty="0">
                <a:solidFill>
                  <a:srgbClr val="FF0000"/>
                </a:solidFill>
              </a:rPr>
              <a:t>)</a:t>
            </a:r>
          </a:p>
        </p:txBody>
      </p:sp>
      <p:pic>
        <p:nvPicPr>
          <p:cNvPr id="5" name="Picture 4">
            <a:extLst>
              <a:ext uri="{FF2B5EF4-FFF2-40B4-BE49-F238E27FC236}">
                <a16:creationId xmlns:a16="http://schemas.microsoft.com/office/drawing/2014/main" id="{68C76755-E358-24F3-70B4-7D1E55948274}"/>
              </a:ext>
            </a:extLst>
          </p:cNvPr>
          <p:cNvPicPr>
            <a:picLocks noChangeAspect="1"/>
          </p:cNvPicPr>
          <p:nvPr/>
        </p:nvPicPr>
        <p:blipFill>
          <a:blip r:embed="rId2"/>
          <a:stretch>
            <a:fillRect/>
          </a:stretch>
        </p:blipFill>
        <p:spPr>
          <a:xfrm>
            <a:off x="1482290" y="1054362"/>
            <a:ext cx="8980371" cy="4948368"/>
          </a:xfrm>
          <a:prstGeom prst="rect">
            <a:avLst/>
          </a:prstGeom>
        </p:spPr>
      </p:pic>
    </p:spTree>
    <p:extLst>
      <p:ext uri="{BB962C8B-B14F-4D97-AF65-F5344CB8AC3E}">
        <p14:creationId xmlns:p14="http://schemas.microsoft.com/office/powerpoint/2010/main" val="36172258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BE8C5-D1D7-F495-1757-2F420FB3DB1B}"/>
              </a:ext>
            </a:extLst>
          </p:cNvPr>
          <p:cNvSpPr>
            <a:spLocks noGrp="1"/>
          </p:cNvSpPr>
          <p:nvPr>
            <p:ph type="title"/>
          </p:nvPr>
        </p:nvSpPr>
        <p:spPr>
          <a:xfrm>
            <a:off x="838200" y="365126"/>
            <a:ext cx="9999846" cy="635902"/>
          </a:xfrm>
        </p:spPr>
        <p:txBody>
          <a:bodyPr>
            <a:normAutofit/>
          </a:bodyPr>
          <a:lstStyle/>
          <a:p>
            <a:r>
              <a:rPr lang="en-IN" sz="3200" b="1" dirty="0">
                <a:solidFill>
                  <a:srgbClr val="FF0000"/>
                </a:solidFill>
              </a:rPr>
              <a:t>Racing Bar Plot (alternative)</a:t>
            </a:r>
          </a:p>
        </p:txBody>
      </p:sp>
      <p:pic>
        <p:nvPicPr>
          <p:cNvPr id="4" name="Picture 3">
            <a:extLst>
              <a:ext uri="{FF2B5EF4-FFF2-40B4-BE49-F238E27FC236}">
                <a16:creationId xmlns:a16="http://schemas.microsoft.com/office/drawing/2014/main" id="{037A2972-73EF-F685-B659-68D298CD7ABE}"/>
              </a:ext>
            </a:extLst>
          </p:cNvPr>
          <p:cNvPicPr>
            <a:picLocks noChangeAspect="1"/>
          </p:cNvPicPr>
          <p:nvPr/>
        </p:nvPicPr>
        <p:blipFill>
          <a:blip r:embed="rId2"/>
          <a:stretch>
            <a:fillRect/>
          </a:stretch>
        </p:blipFill>
        <p:spPr>
          <a:xfrm>
            <a:off x="1189923" y="1144203"/>
            <a:ext cx="9296400" cy="4800600"/>
          </a:xfrm>
          <a:prstGeom prst="rect">
            <a:avLst/>
          </a:prstGeom>
        </p:spPr>
      </p:pic>
    </p:spTree>
    <p:extLst>
      <p:ext uri="{BB962C8B-B14F-4D97-AF65-F5344CB8AC3E}">
        <p14:creationId xmlns:p14="http://schemas.microsoft.com/office/powerpoint/2010/main" val="11418047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C18DD8-FA2C-1244-D06F-CDAB1ECF2DAF}"/>
              </a:ext>
            </a:extLst>
          </p:cNvPr>
          <p:cNvSpPr>
            <a:spLocks noGrp="1"/>
          </p:cNvSpPr>
          <p:nvPr>
            <p:ph type="title"/>
          </p:nvPr>
        </p:nvSpPr>
        <p:spPr>
          <a:xfrm>
            <a:off x="838200" y="365125"/>
            <a:ext cx="10201977" cy="838033"/>
          </a:xfrm>
        </p:spPr>
        <p:txBody>
          <a:bodyPr>
            <a:normAutofit/>
          </a:bodyPr>
          <a:lstStyle/>
          <a:p>
            <a:r>
              <a:rPr lang="en-IN" sz="3200" b="1" dirty="0">
                <a:solidFill>
                  <a:srgbClr val="FF0000"/>
                </a:solidFill>
              </a:rPr>
              <a:t>Racing Bar plot (using </a:t>
            </a:r>
            <a:r>
              <a:rPr lang="en-IN" sz="3200" b="1" dirty="0" err="1">
                <a:solidFill>
                  <a:srgbClr val="FF0000"/>
                </a:solidFill>
              </a:rPr>
              <a:t>PlotlyExpress</a:t>
            </a:r>
            <a:r>
              <a:rPr lang="en-IN" sz="3200" b="1" dirty="0">
                <a:solidFill>
                  <a:srgbClr val="FF0000"/>
                </a:solidFill>
              </a:rPr>
              <a:t>)</a:t>
            </a:r>
          </a:p>
        </p:txBody>
      </p:sp>
      <p:pic>
        <p:nvPicPr>
          <p:cNvPr id="4" name="Picture 3">
            <a:extLst>
              <a:ext uri="{FF2B5EF4-FFF2-40B4-BE49-F238E27FC236}">
                <a16:creationId xmlns:a16="http://schemas.microsoft.com/office/drawing/2014/main" id="{3BF51102-22A3-0466-C5E4-8D236F8832A2}"/>
              </a:ext>
            </a:extLst>
          </p:cNvPr>
          <p:cNvPicPr>
            <a:picLocks noChangeAspect="1"/>
          </p:cNvPicPr>
          <p:nvPr/>
        </p:nvPicPr>
        <p:blipFill>
          <a:blip r:embed="rId2"/>
          <a:stretch>
            <a:fillRect/>
          </a:stretch>
        </p:blipFill>
        <p:spPr>
          <a:xfrm>
            <a:off x="1813915" y="1110418"/>
            <a:ext cx="7820973" cy="4337481"/>
          </a:xfrm>
          <a:prstGeom prst="rect">
            <a:avLst/>
          </a:prstGeom>
        </p:spPr>
      </p:pic>
      <p:sp>
        <p:nvSpPr>
          <p:cNvPr id="5" name="TextBox 4">
            <a:extLst>
              <a:ext uri="{FF2B5EF4-FFF2-40B4-BE49-F238E27FC236}">
                <a16:creationId xmlns:a16="http://schemas.microsoft.com/office/drawing/2014/main" id="{B32A34EE-3A60-C9BB-C850-94C0FF6F7140}"/>
              </a:ext>
            </a:extLst>
          </p:cNvPr>
          <p:cNvSpPr txBox="1"/>
          <p:nvPr/>
        </p:nvSpPr>
        <p:spPr>
          <a:xfrm>
            <a:off x="838200" y="5861785"/>
            <a:ext cx="7863038" cy="738664"/>
          </a:xfrm>
          <a:prstGeom prst="rect">
            <a:avLst/>
          </a:prstGeom>
          <a:noFill/>
        </p:spPr>
        <p:txBody>
          <a:bodyPr wrap="square" rtlCol="0">
            <a:spAutoFit/>
          </a:bodyPr>
          <a:lstStyle/>
          <a:p>
            <a:r>
              <a:rPr lang="en-IN" dirty="0"/>
              <a:t>Please note due to some constraints I couldn’t download the animation of this plot, so I am uploading the snapshot of the animation, but the animation is available in my repository you can check it from there.</a:t>
            </a:r>
          </a:p>
        </p:txBody>
      </p:sp>
    </p:spTree>
    <p:extLst>
      <p:ext uri="{BB962C8B-B14F-4D97-AF65-F5344CB8AC3E}">
        <p14:creationId xmlns:p14="http://schemas.microsoft.com/office/powerpoint/2010/main" val="10054999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1B898-EDE7-2353-4B4C-2C2F3F0D5299}"/>
              </a:ext>
            </a:extLst>
          </p:cNvPr>
          <p:cNvSpPr>
            <a:spLocks noGrp="1"/>
          </p:cNvSpPr>
          <p:nvPr>
            <p:ph type="title"/>
          </p:nvPr>
        </p:nvSpPr>
        <p:spPr>
          <a:xfrm>
            <a:off x="838200" y="323901"/>
            <a:ext cx="10515600" cy="1084985"/>
          </a:xfrm>
        </p:spPr>
        <p:txBody>
          <a:bodyPr>
            <a:normAutofit/>
          </a:bodyPr>
          <a:lstStyle/>
          <a:p>
            <a:r>
              <a:rPr lang="en-IN" sz="3200" b="1" dirty="0">
                <a:solidFill>
                  <a:srgbClr val="FF0000"/>
                </a:solidFill>
              </a:rPr>
              <a:t>Conclusion:</a:t>
            </a:r>
          </a:p>
        </p:txBody>
      </p:sp>
      <p:sp>
        <p:nvSpPr>
          <p:cNvPr id="3" name="TextBox 2">
            <a:extLst>
              <a:ext uri="{FF2B5EF4-FFF2-40B4-BE49-F238E27FC236}">
                <a16:creationId xmlns:a16="http://schemas.microsoft.com/office/drawing/2014/main" id="{20446606-0208-2EF0-1F73-35452D138AF0}"/>
              </a:ext>
            </a:extLst>
          </p:cNvPr>
          <p:cNvSpPr txBox="1"/>
          <p:nvPr/>
        </p:nvSpPr>
        <p:spPr>
          <a:xfrm>
            <a:off x="997916" y="1418511"/>
            <a:ext cx="9938327" cy="4792146"/>
          </a:xfrm>
          <a:prstGeom prst="rect">
            <a:avLst/>
          </a:prstGeom>
          <a:noFill/>
        </p:spPr>
        <p:txBody>
          <a:bodyPr wrap="square" rtlCol="0">
            <a:spAutoFit/>
          </a:bodyPr>
          <a:lstStyle/>
          <a:p>
            <a:pPr>
              <a:lnSpc>
                <a:spcPct val="150000"/>
              </a:lnSpc>
            </a:pPr>
            <a:r>
              <a:rPr lang="en-US" dirty="0">
                <a:solidFill>
                  <a:schemeClr val="bg1">
                    <a:lumMod val="50000"/>
                  </a:schemeClr>
                </a:solidFill>
              </a:rPr>
              <a:t>Observations:</a:t>
            </a:r>
          </a:p>
          <a:p>
            <a:pPr>
              <a:lnSpc>
                <a:spcPct val="150000"/>
              </a:lnSpc>
            </a:pPr>
            <a:endParaRPr lang="en-US" dirty="0">
              <a:solidFill>
                <a:schemeClr val="bg1">
                  <a:lumMod val="50000"/>
                </a:schemeClr>
              </a:solidFill>
            </a:endParaRPr>
          </a:p>
          <a:p>
            <a:pPr>
              <a:lnSpc>
                <a:spcPct val="150000"/>
              </a:lnSpc>
            </a:pPr>
            <a:r>
              <a:rPr lang="en-US" b="1" dirty="0">
                <a:solidFill>
                  <a:srgbClr val="0070C0"/>
                </a:solidFill>
              </a:rPr>
              <a:t>Price Range Distribution:</a:t>
            </a:r>
          </a:p>
          <a:p>
            <a:pPr>
              <a:lnSpc>
                <a:spcPct val="150000"/>
              </a:lnSpc>
            </a:pPr>
            <a:r>
              <a:rPr lang="en-US" dirty="0"/>
              <a:t>Most electric vehicle manufacturers have their base MSRP concentrated in the $30,000 to $80,000 range.</a:t>
            </a:r>
          </a:p>
          <a:p>
            <a:pPr>
              <a:lnSpc>
                <a:spcPct val="150000"/>
              </a:lnSpc>
            </a:pPr>
            <a:r>
              <a:rPr lang="en-US" dirty="0"/>
              <a:t>There's significant variation in pricing across different makes, indicating diverse market segments.</a:t>
            </a:r>
          </a:p>
          <a:p>
            <a:pPr>
              <a:lnSpc>
                <a:spcPct val="150000"/>
              </a:lnSpc>
            </a:pPr>
            <a:endParaRPr lang="en-US" dirty="0"/>
          </a:p>
          <a:p>
            <a:pPr>
              <a:lnSpc>
                <a:spcPct val="150000"/>
              </a:lnSpc>
            </a:pPr>
            <a:r>
              <a:rPr lang="en-US" b="1" dirty="0">
                <a:solidFill>
                  <a:srgbClr val="0070C0"/>
                </a:solidFill>
              </a:rPr>
              <a:t>Luxury Brands:</a:t>
            </a:r>
          </a:p>
          <a:p>
            <a:r>
              <a:rPr lang="en-US" dirty="0"/>
              <a:t>Brands like Tesla, Porsche, and Audi tend to have higher median prices and larger price ranges, reflecting their focus on premium and luxury electric vehicles.</a:t>
            </a:r>
          </a:p>
          <a:p>
            <a:pPr>
              <a:lnSpc>
                <a:spcPct val="150000"/>
              </a:lnSpc>
            </a:pPr>
            <a:r>
              <a:rPr lang="en-US" dirty="0"/>
              <a:t>These brands also show larger boxes in the boxplot, indicating more variability in their pricing.</a:t>
            </a:r>
          </a:p>
          <a:p>
            <a:pPr>
              <a:lnSpc>
                <a:spcPct val="150000"/>
              </a:lnSpc>
            </a:pPr>
            <a:endParaRPr lang="en-US" dirty="0"/>
          </a:p>
          <a:p>
            <a:pPr>
              <a:lnSpc>
                <a:spcPct val="150000"/>
              </a:lnSpc>
            </a:pPr>
            <a:r>
              <a:rPr lang="en-US" b="1" dirty="0">
                <a:solidFill>
                  <a:schemeClr val="accent1"/>
                </a:solidFill>
              </a:rPr>
              <a:t>Affordable Options: </a:t>
            </a:r>
          </a:p>
          <a:p>
            <a:r>
              <a:rPr lang="en-US" dirty="0"/>
              <a:t>Manufacturers like Chevrolet, Nissan, and Hyundai have lower median prices, suggesting they're targeting the more affordable end of the EV market. </a:t>
            </a:r>
          </a:p>
          <a:p>
            <a:pPr>
              <a:lnSpc>
                <a:spcPct val="150000"/>
              </a:lnSpc>
            </a:pPr>
            <a:r>
              <a:rPr lang="en-US" dirty="0"/>
              <a:t>These brands typically have smaller boxes, indicating less variability in their pricing.</a:t>
            </a:r>
          </a:p>
          <a:p>
            <a:pPr>
              <a:lnSpc>
                <a:spcPct val="150000"/>
              </a:lnSpc>
            </a:pPr>
            <a:endParaRPr lang="en-US" dirty="0"/>
          </a:p>
        </p:txBody>
      </p:sp>
    </p:spTree>
    <p:extLst>
      <p:ext uri="{BB962C8B-B14F-4D97-AF65-F5344CB8AC3E}">
        <p14:creationId xmlns:p14="http://schemas.microsoft.com/office/powerpoint/2010/main" val="45514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6C0CD9-4BD9-4302-AC38-B832E91A5386}"/>
              </a:ext>
            </a:extLst>
          </p:cNvPr>
          <p:cNvSpPr txBox="1"/>
          <p:nvPr/>
        </p:nvSpPr>
        <p:spPr>
          <a:xfrm>
            <a:off x="870685" y="452388"/>
            <a:ext cx="10450630" cy="5115311"/>
          </a:xfrm>
          <a:prstGeom prst="rect">
            <a:avLst/>
          </a:prstGeom>
          <a:noFill/>
        </p:spPr>
        <p:txBody>
          <a:bodyPr wrap="square" rtlCol="0">
            <a:spAutoFit/>
          </a:bodyPr>
          <a:lstStyle/>
          <a:p>
            <a:pPr>
              <a:lnSpc>
                <a:spcPct val="150000"/>
              </a:lnSpc>
            </a:pPr>
            <a:r>
              <a:rPr lang="en-US" b="1" dirty="0">
                <a:solidFill>
                  <a:schemeClr val="accent1"/>
                </a:solidFill>
              </a:rPr>
              <a:t>Price Variability: </a:t>
            </a:r>
          </a:p>
          <a:p>
            <a:r>
              <a:rPr lang="en-US" dirty="0"/>
              <a:t>Some brands (e.g., BMW, Mercedes-Benz) show large price ranges, suggesting they offer EVs across various market segments, from more affordable to luxury models. </a:t>
            </a:r>
          </a:p>
          <a:p>
            <a:pPr>
              <a:lnSpc>
                <a:spcPct val="150000"/>
              </a:lnSpc>
            </a:pPr>
            <a:r>
              <a:rPr lang="en-US" dirty="0"/>
              <a:t>Others (e.g., Fiat, Smart) have very small ranges, indicating a focused product line with limited price variability.</a:t>
            </a:r>
          </a:p>
          <a:p>
            <a:endParaRPr lang="en-US" b="1" dirty="0">
              <a:solidFill>
                <a:schemeClr val="accent1"/>
              </a:solidFill>
            </a:endParaRPr>
          </a:p>
          <a:p>
            <a:r>
              <a:rPr lang="en-US" b="1" dirty="0">
                <a:solidFill>
                  <a:schemeClr val="accent1"/>
                </a:solidFill>
              </a:rPr>
              <a:t>Emerging Patterns:</a:t>
            </a:r>
          </a:p>
          <a:p>
            <a:pPr>
              <a:lnSpc>
                <a:spcPct val="150000"/>
              </a:lnSpc>
            </a:pPr>
            <a:r>
              <a:rPr lang="en-US" dirty="0"/>
              <a:t>There seems to be a clustering of brands in the mid-price range, possibly indicating intense competition in this segment.</a:t>
            </a:r>
          </a:p>
          <a:p>
            <a:pPr>
              <a:lnSpc>
                <a:spcPct val="150000"/>
              </a:lnSpc>
            </a:pPr>
            <a:r>
              <a:rPr lang="en-US" dirty="0"/>
              <a:t>A few outliers still exist for some brands, which could represent special edition or high-performance models.</a:t>
            </a:r>
          </a:p>
          <a:p>
            <a:endParaRPr lang="en-US" dirty="0"/>
          </a:p>
          <a:p>
            <a:r>
              <a:rPr lang="en-US" b="1" dirty="0">
                <a:solidFill>
                  <a:schemeClr val="accent1"/>
                </a:solidFill>
              </a:rPr>
              <a:t>Market Positioning:</a:t>
            </a:r>
          </a:p>
          <a:p>
            <a:r>
              <a:rPr lang="en-US" dirty="0"/>
              <a:t>The visualization clearly shows how different manufacturers are positioning themselves in the EV market, from budget-friendly options to high-end luxury vehicles.</a:t>
            </a:r>
          </a:p>
          <a:p>
            <a:endParaRPr lang="en-US" dirty="0"/>
          </a:p>
          <a:p>
            <a:r>
              <a:rPr lang="en-US" b="1" dirty="0">
                <a:solidFill>
                  <a:schemeClr val="accent1"/>
                </a:solidFill>
              </a:rPr>
              <a:t>New Entrants:</a:t>
            </a:r>
          </a:p>
          <a:p>
            <a:r>
              <a:rPr lang="en-US" dirty="0"/>
              <a:t>Some newer entrants to the EV market (e.g., Rivian, Lucid) appear to be positioning themselves in the premium segment, with higher median prices.</a:t>
            </a:r>
          </a:p>
          <a:p>
            <a:endParaRPr lang="en-US" dirty="0"/>
          </a:p>
          <a:p>
            <a:r>
              <a:rPr lang="en-US" b="1" dirty="0">
                <a:solidFill>
                  <a:schemeClr val="accent1"/>
                </a:solidFill>
              </a:rPr>
              <a:t>Traditional vs. EV-Only Brands:</a:t>
            </a:r>
          </a:p>
          <a:p>
            <a:r>
              <a:rPr lang="en-US" dirty="0"/>
              <a:t>Traditional auto manufacturers (e.g., Ford, Volkswagen) seem to offer a wider range of prices, possibly leveraging their experience to cater to various market segments.</a:t>
            </a:r>
          </a:p>
          <a:p>
            <a:pPr>
              <a:lnSpc>
                <a:spcPct val="150000"/>
              </a:lnSpc>
            </a:pPr>
            <a:r>
              <a:rPr lang="en-US" dirty="0"/>
              <a:t>EV-only brands (e.g., Tesla, Rivian) often have higher median prices, possibly due to their focus on technology and performance.</a:t>
            </a:r>
            <a:endParaRPr lang="en-IN" dirty="0"/>
          </a:p>
        </p:txBody>
      </p:sp>
    </p:spTree>
    <p:extLst>
      <p:ext uri="{BB962C8B-B14F-4D97-AF65-F5344CB8AC3E}">
        <p14:creationId xmlns:p14="http://schemas.microsoft.com/office/powerpoint/2010/main" val="1253378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CB72AE-9B06-E2B0-6081-7BEFDF1D321D}"/>
              </a:ext>
            </a:extLst>
          </p:cNvPr>
          <p:cNvSpPr txBox="1"/>
          <p:nvPr/>
        </p:nvSpPr>
        <p:spPr>
          <a:xfrm>
            <a:off x="737936" y="616016"/>
            <a:ext cx="11004885" cy="5478423"/>
          </a:xfrm>
          <a:prstGeom prst="rect">
            <a:avLst/>
          </a:prstGeom>
          <a:noFill/>
        </p:spPr>
        <p:txBody>
          <a:bodyPr wrap="square" rtlCol="0">
            <a:spAutoFit/>
          </a:bodyPr>
          <a:lstStyle/>
          <a:p>
            <a:r>
              <a:rPr lang="en-US" dirty="0">
                <a:solidFill>
                  <a:schemeClr val="bg1">
                    <a:lumMod val="50000"/>
                  </a:schemeClr>
                </a:solidFill>
              </a:rPr>
              <a:t>Analysis:</a:t>
            </a:r>
          </a:p>
          <a:p>
            <a:endParaRPr lang="en-US" dirty="0">
              <a:solidFill>
                <a:schemeClr val="bg1">
                  <a:lumMod val="50000"/>
                </a:schemeClr>
              </a:solidFill>
            </a:endParaRPr>
          </a:p>
          <a:p>
            <a:r>
              <a:rPr lang="en-US" b="1" dirty="0">
                <a:solidFill>
                  <a:schemeClr val="accent1"/>
                </a:solidFill>
              </a:rPr>
              <a:t>Market Trends:</a:t>
            </a:r>
          </a:p>
          <a:p>
            <a:r>
              <a:rPr lang="en-US" dirty="0"/>
              <a:t>The EV market is showing rapid growth, especially in recent years (2018-2022).</a:t>
            </a:r>
          </a:p>
          <a:p>
            <a:r>
              <a:rPr lang="en-US" dirty="0"/>
              <a:t>BEVs are more popular than PHEVs, possibly due to improving battery technology and range.</a:t>
            </a:r>
          </a:p>
          <a:p>
            <a:r>
              <a:rPr lang="en-US" dirty="0"/>
              <a:t>Tesla's dominance suggests strong brand loyalty and first-mover advantage in the EV space.</a:t>
            </a:r>
          </a:p>
          <a:p>
            <a:endParaRPr lang="en-US" dirty="0"/>
          </a:p>
          <a:p>
            <a:r>
              <a:rPr lang="en-US" b="1" dirty="0">
                <a:solidFill>
                  <a:schemeClr val="accent1"/>
                </a:solidFill>
              </a:rPr>
              <a:t>Geographic Distribution:</a:t>
            </a:r>
          </a:p>
          <a:p>
            <a:r>
              <a:rPr lang="en-US" dirty="0"/>
              <a:t>EV adoption is concentrated in specific counties, likely urban and suburban areas with better charging infrastructure.</a:t>
            </a:r>
          </a:p>
          <a:p>
            <a:r>
              <a:rPr lang="en-US" dirty="0"/>
              <a:t>This suggests a need for expanded infrastructure and incentives in other regions to promote wider EV adoption.</a:t>
            </a:r>
          </a:p>
          <a:p>
            <a:endParaRPr lang="en-US" dirty="0"/>
          </a:p>
          <a:p>
            <a:r>
              <a:rPr lang="en-US" b="1" dirty="0">
                <a:solidFill>
                  <a:schemeClr val="accent1"/>
                </a:solidFill>
              </a:rPr>
              <a:t>Manufacturer Strategies:</a:t>
            </a:r>
          </a:p>
          <a:p>
            <a:r>
              <a:rPr lang="en-US" dirty="0"/>
              <a:t>Traditional automakers are increasing their EV offerings, but still lag behind Tesla.</a:t>
            </a:r>
          </a:p>
          <a:p>
            <a:r>
              <a:rPr lang="en-US" dirty="0"/>
              <a:t>Some manufacturers focus more on PHEVs (e.g., Toyota), while others emphasize BEVs.</a:t>
            </a:r>
          </a:p>
          <a:p>
            <a:r>
              <a:rPr lang="en-US" dirty="0"/>
              <a:t>Luxury brands are entering the EV market, indicating growing demand in premium segments.</a:t>
            </a:r>
          </a:p>
          <a:p>
            <a:endParaRPr lang="en-US" dirty="0"/>
          </a:p>
          <a:p>
            <a:r>
              <a:rPr lang="en-US" b="1" dirty="0">
                <a:solidFill>
                  <a:schemeClr val="accent1"/>
                </a:solidFill>
              </a:rPr>
              <a:t>Policy Implications:</a:t>
            </a:r>
          </a:p>
          <a:p>
            <a:r>
              <a:rPr lang="en-US" dirty="0"/>
              <a:t>CAFV eligibility affects a large portion of EVs, suggesting that such incentives may be driving adoption.</a:t>
            </a:r>
          </a:p>
          <a:p>
            <a:r>
              <a:rPr lang="en-US" dirty="0"/>
              <a:t>The presence of non-eligible PHEVs indicates a need for clearer standards or improved technology to meet eligibility criteria.</a:t>
            </a:r>
          </a:p>
          <a:p>
            <a:endParaRPr lang="en-US" dirty="0"/>
          </a:p>
          <a:p>
            <a:r>
              <a:rPr lang="en-US" b="1" dirty="0">
                <a:solidFill>
                  <a:schemeClr val="accent1"/>
                </a:solidFill>
              </a:rPr>
              <a:t>Future Outlook:</a:t>
            </a:r>
          </a:p>
          <a:p>
            <a:r>
              <a:rPr lang="en-US" dirty="0"/>
              <a:t>The rapid growth in recent model years suggests continued expansion of the EV market.</a:t>
            </a:r>
          </a:p>
          <a:p>
            <a:r>
              <a:rPr lang="en-US" dirty="0"/>
              <a:t>Increasing competition from traditional automakers may challenge Tesla's dominance in the future.</a:t>
            </a:r>
          </a:p>
          <a:p>
            <a:r>
              <a:rPr lang="en-US" dirty="0"/>
              <a:t>The shift towards BEVs over PHEVs may continue as battery technology improves and charging infrastructure expands.</a:t>
            </a:r>
          </a:p>
          <a:p>
            <a:endParaRPr lang="en-US" dirty="0"/>
          </a:p>
        </p:txBody>
      </p:sp>
    </p:spTree>
    <p:extLst>
      <p:ext uri="{BB962C8B-B14F-4D97-AF65-F5344CB8AC3E}">
        <p14:creationId xmlns:p14="http://schemas.microsoft.com/office/powerpoint/2010/main" val="4225585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241C1-6170-0A70-984B-3B654507B1AB}"/>
              </a:ext>
            </a:extLst>
          </p:cNvPr>
          <p:cNvSpPr>
            <a:spLocks noGrp="1"/>
          </p:cNvSpPr>
          <p:nvPr>
            <p:ph type="title"/>
          </p:nvPr>
        </p:nvSpPr>
        <p:spPr/>
        <p:txBody>
          <a:bodyPr/>
          <a:lstStyle/>
          <a:p>
            <a:r>
              <a:rPr lang="en-US" sz="3200" b="1" dirty="0">
                <a:solidFill>
                  <a:srgbClr val="FF0000"/>
                </a:solidFill>
              </a:rPr>
              <a:t>Experience and Challenges</a:t>
            </a:r>
            <a:endParaRPr lang="en-IN" dirty="0">
              <a:solidFill>
                <a:srgbClr val="FF0000"/>
              </a:solidFill>
            </a:endParaRPr>
          </a:p>
        </p:txBody>
      </p:sp>
      <p:sp>
        <p:nvSpPr>
          <p:cNvPr id="3" name="TextBox 2">
            <a:extLst>
              <a:ext uri="{FF2B5EF4-FFF2-40B4-BE49-F238E27FC236}">
                <a16:creationId xmlns:a16="http://schemas.microsoft.com/office/drawing/2014/main" id="{617CCE02-BF37-7692-21C7-16488F3986E6}"/>
              </a:ext>
            </a:extLst>
          </p:cNvPr>
          <p:cNvSpPr txBox="1"/>
          <p:nvPr/>
        </p:nvSpPr>
        <p:spPr>
          <a:xfrm>
            <a:off x="997527" y="2087418"/>
            <a:ext cx="9901382" cy="2395528"/>
          </a:xfrm>
          <a:prstGeom prst="rect">
            <a:avLst/>
          </a:prstGeom>
          <a:noFill/>
        </p:spPr>
        <p:txBody>
          <a:bodyPr wrap="square" rtlCol="0">
            <a:spAutoFit/>
          </a:bodyPr>
          <a:lstStyle/>
          <a:p>
            <a:pPr>
              <a:lnSpc>
                <a:spcPct val="150000"/>
              </a:lnSpc>
            </a:pPr>
            <a:r>
              <a:rPr lang="en-US" sz="1800" b="1" dirty="0"/>
              <a:t>Experience</a:t>
            </a:r>
            <a:r>
              <a:rPr lang="en-US" sz="1800" dirty="0"/>
              <a:t>: </a:t>
            </a:r>
            <a:r>
              <a:rPr lang="en-US" sz="1600" dirty="0"/>
              <a:t>The project involved cleaning a large dataset, performing thorough EDA, and interpreting 	various relationships within the data. Learned to identify patterns and outliers through 	visualizations.</a:t>
            </a:r>
          </a:p>
          <a:p>
            <a:pPr>
              <a:lnSpc>
                <a:spcPct val="150000"/>
              </a:lnSpc>
            </a:pPr>
            <a:endParaRPr lang="en-US" sz="1600" dirty="0"/>
          </a:p>
          <a:p>
            <a:pPr>
              <a:lnSpc>
                <a:spcPct val="150000"/>
              </a:lnSpc>
            </a:pPr>
            <a:r>
              <a:rPr lang="en-US" sz="1800" b="1" dirty="0"/>
              <a:t>Challenges: </a:t>
            </a:r>
            <a:r>
              <a:rPr lang="en-US" sz="1800" dirty="0"/>
              <a:t>Creating the Choropleth graphs and Racing Bar Plots in were very a bit tough and 	took most of my time in this project.</a:t>
            </a:r>
            <a:endParaRPr lang="en-IN" dirty="0"/>
          </a:p>
        </p:txBody>
      </p:sp>
    </p:spTree>
    <p:extLst>
      <p:ext uri="{BB962C8B-B14F-4D97-AF65-F5344CB8AC3E}">
        <p14:creationId xmlns:p14="http://schemas.microsoft.com/office/powerpoint/2010/main" val="9391905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237</TotalTime>
  <Words>2717</Words>
  <Application>Microsoft Office PowerPoint</Application>
  <PresentationFormat>Widescreen</PresentationFormat>
  <Paragraphs>200</Paragraphs>
  <Slides>23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Libre Baskerville</vt:lpstr>
      <vt:lpstr>Arial</vt:lpstr>
      <vt:lpstr>Calibri</vt:lpstr>
      <vt:lpstr>Lato Black</vt:lpstr>
      <vt:lpstr>Office Theme</vt:lpstr>
      <vt:lpstr>PowerPoint Presentation</vt:lpstr>
      <vt:lpstr>PowerPoint Presentation</vt:lpstr>
      <vt:lpstr>Agenda</vt:lpstr>
      <vt:lpstr>Introduction</vt:lpstr>
      <vt:lpstr>Data Description</vt:lpstr>
      <vt:lpstr>Data Cleaning and Data Manipulation</vt:lpstr>
      <vt:lpstr>Univariate Analysis</vt:lpstr>
      <vt:lpstr>Univariate Analysis:</vt:lpstr>
      <vt:lpstr>PowerPoint Presentation</vt:lpstr>
      <vt:lpstr>PowerPoint Presentation</vt:lpstr>
      <vt:lpstr>Bivariate Analysis</vt:lpstr>
      <vt:lpstr>PowerPoint Presentation</vt:lpstr>
      <vt:lpstr>PowerPoint Presentation</vt:lpstr>
      <vt:lpstr>Task Questions</vt:lpstr>
      <vt:lpstr>PowerPoint Presentation</vt:lpstr>
      <vt:lpstr> Q2. Racing Bar Plots (using Bar_Chart_Race)</vt:lpstr>
      <vt:lpstr>Racing Bar Plot (alternative)</vt:lpstr>
      <vt:lpstr>Racing Bar plot (using PlotlyExpress)</vt:lpstr>
      <vt:lpstr>Conclusion:</vt:lpstr>
      <vt:lpstr>PowerPoint Presentation</vt:lpstr>
      <vt:lpstr>PowerPoint Presentation</vt:lpstr>
      <vt:lpstr>Experience and Challenges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SRIDHAR ALLAM</cp:lastModifiedBy>
  <cp:revision>3</cp:revision>
  <dcterms:created xsi:type="dcterms:W3CDTF">2021-02-16T05:19:01Z</dcterms:created>
  <dcterms:modified xsi:type="dcterms:W3CDTF">2024-10-10T14:01:28Z</dcterms:modified>
</cp:coreProperties>
</file>